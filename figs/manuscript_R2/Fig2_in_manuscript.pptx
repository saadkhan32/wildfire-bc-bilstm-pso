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6459200" cy="13579475"/>
  <p:notesSz cx="13579475" cy="16459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C65911"/>
    <a:srgbClr val="6A4FA3"/>
    <a:srgbClr val="00696D"/>
    <a:srgbClr val="3A7D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744" y="-2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355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DE99427A-12C3-99E5-C5F9-461EEC291D97}"/>
              </a:ext>
            </a:extLst>
          </p:cNvPr>
          <p:cNvGrpSpPr/>
          <p:nvPr/>
        </p:nvGrpSpPr>
        <p:grpSpPr>
          <a:xfrm>
            <a:off x="71095" y="329184"/>
            <a:ext cx="16151993" cy="12865608"/>
            <a:chOff x="71095" y="329184"/>
            <a:chExt cx="16151993" cy="12865608"/>
          </a:xfrm>
        </p:grpSpPr>
        <p:sp>
          <p:nvSpPr>
            <p:cNvPr id="2" name="Shape 0"/>
            <p:cNvSpPr/>
            <p:nvPr/>
          </p:nvSpPr>
          <p:spPr>
            <a:xfrm>
              <a:off x="71095" y="365760"/>
              <a:ext cx="237744" cy="237744"/>
            </a:xfrm>
            <a:prstGeom prst="roundRect">
              <a:avLst>
                <a:gd name="adj" fmla="val 17308"/>
              </a:avLst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Text 1"/>
            <p:cNvSpPr/>
            <p:nvPr/>
          </p:nvSpPr>
          <p:spPr>
            <a:xfrm>
              <a:off x="71095" y="365760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1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Text 2"/>
            <p:cNvSpPr/>
            <p:nvPr/>
          </p:nvSpPr>
          <p:spPr>
            <a:xfrm>
              <a:off x="381991" y="338328"/>
              <a:ext cx="1378915" cy="2926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40404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Data acquisition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Shape 3"/>
            <p:cNvSpPr/>
            <p:nvPr/>
          </p:nvSpPr>
          <p:spPr>
            <a:xfrm>
              <a:off x="1998650" y="365760"/>
              <a:ext cx="237744" cy="237744"/>
            </a:xfrm>
            <a:prstGeom prst="roundRect">
              <a:avLst>
                <a:gd name="adj" fmla="val 17308"/>
              </a:avLst>
            </a:prstGeom>
            <a:solidFill>
              <a:srgbClr val="3A7D44"/>
            </a:solidFill>
            <a:ln/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1998650" y="365760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2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2309546" y="338328"/>
              <a:ext cx="1627175" cy="2926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40404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Predictor variables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4174465" y="365760"/>
              <a:ext cx="237744" cy="237744"/>
            </a:xfrm>
            <a:prstGeom prst="roundRect">
              <a:avLst>
                <a:gd name="adj" fmla="val 17308"/>
              </a:avLst>
            </a:prstGeom>
            <a:solidFill>
              <a:srgbClr val="00696D"/>
            </a:solidFill>
            <a:ln/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4174465" y="365760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3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4485361" y="338328"/>
              <a:ext cx="1958188" cy="2926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40404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Spatiotemporal analyses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6681292" y="365760"/>
              <a:ext cx="237744" cy="237744"/>
            </a:xfrm>
            <a:prstGeom prst="roundRect">
              <a:avLst>
                <a:gd name="adj" fmla="val 17308"/>
              </a:avLst>
            </a:prstGeom>
            <a:solidFill>
              <a:srgbClr val="6A4FA3"/>
            </a:solidFill>
            <a:ln/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6681292" y="365760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4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6992188" y="338328"/>
              <a:ext cx="2289200" cy="2926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40404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Data preparation &amp; sampling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9519133" y="365760"/>
              <a:ext cx="237744" cy="237744"/>
            </a:xfrm>
            <a:prstGeom prst="roundRect">
              <a:avLst>
                <a:gd name="adj" fmla="val 17308"/>
              </a:avLst>
            </a:prstGeom>
            <a:solidFill>
              <a:srgbClr val="C65911"/>
            </a:solidFill>
            <a:ln/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9519133" y="365760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5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9830029" y="338328"/>
              <a:ext cx="1461668" cy="2926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40404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Modeling pipeline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11529441" y="365760"/>
              <a:ext cx="237744" cy="237744"/>
            </a:xfrm>
            <a:prstGeom prst="roundRect">
              <a:avLst>
                <a:gd name="adj" fmla="val 17308"/>
              </a:avLst>
            </a:prstGeom>
            <a:solidFill>
              <a:srgbClr val="2F5597"/>
            </a:solidFill>
            <a:ln/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1529441" y="365760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6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11840337" y="338328"/>
              <a:ext cx="2454707" cy="2926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40404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Validation &amp; interpretability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14359346" y="356616"/>
              <a:ext cx="237744" cy="237744"/>
            </a:xfrm>
            <a:prstGeom prst="roundRect">
              <a:avLst>
                <a:gd name="adj" fmla="val 17308"/>
              </a:avLst>
            </a:prstGeom>
            <a:solidFill>
              <a:srgbClr val="B02418"/>
            </a:solidFill>
            <a:ln/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14367983" y="343771"/>
              <a:ext cx="23774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7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14678666" y="329184"/>
              <a:ext cx="1544422" cy="2926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40404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Outputs &amp; exposure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365760" y="969264"/>
              <a:ext cx="15727680" cy="1956816"/>
            </a:xfrm>
            <a:prstGeom prst="rect">
              <a:avLst/>
            </a:prstGeom>
            <a:solidFill>
              <a:srgbClr val="EDF3FA"/>
            </a:solidFill>
            <a:ln w="19050">
              <a:solidFill>
                <a:srgbClr val="1F4E79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365760" y="969264"/>
              <a:ext cx="15727680" cy="475488"/>
            </a:xfrm>
            <a:prstGeom prst="rect">
              <a:avLst/>
            </a:prstGeom>
            <a:solidFill>
              <a:srgbClr val="1F4E79"/>
            </a:solidFill>
            <a:ln w="12700">
              <a:solidFill>
                <a:srgbClr val="1F4E79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566928" y="969264"/>
              <a:ext cx="15361920" cy="4754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1.  Data Acquisition</a:t>
              </a:r>
              <a:endParaRPr lang="en-US" sz="2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589043" y="1592970"/>
              <a:ext cx="1380744" cy="557784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15875">
              <a:solidFill>
                <a:srgbClr val="1F4E79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599676" y="1579998"/>
              <a:ext cx="145389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1650" b="1" dirty="0">
                  <a:solidFill>
                    <a:srgbClr val="1F4E79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Raster</a:t>
              </a:r>
              <a:r>
                <a:rPr lang="en-US" sz="16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50" b="1" dirty="0">
                  <a:solidFill>
                    <a:srgbClr val="1F4E79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layers</a:t>
              </a:r>
              <a:endParaRPr lang="en-US" sz="1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2487168" y="1591056"/>
              <a:ext cx="2514600" cy="566928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15875">
              <a:solidFill>
                <a:srgbClr val="1F4E79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27"/>
            <p:cNvSpPr/>
            <p:nvPr/>
          </p:nvSpPr>
          <p:spPr>
            <a:xfrm>
              <a:off x="3848214" y="1640572"/>
              <a:ext cx="102870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7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Landsat-8</a:t>
              </a:r>
              <a:endParaRPr lang="en-US" sz="1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Shape 28"/>
            <p:cNvSpPr/>
            <p:nvPr/>
          </p:nvSpPr>
          <p:spPr>
            <a:xfrm>
              <a:off x="5202936" y="1591056"/>
              <a:ext cx="2514600" cy="566928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15875">
              <a:solidFill>
                <a:srgbClr val="1F4E79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 29"/>
            <p:cNvSpPr/>
            <p:nvPr/>
          </p:nvSpPr>
          <p:spPr>
            <a:xfrm>
              <a:off x="5769864" y="1591056"/>
              <a:ext cx="187452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SRTM</a:t>
              </a:r>
              <a:endParaRPr lang="en-US" sz="1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Shape 30"/>
            <p:cNvSpPr/>
            <p:nvPr/>
          </p:nvSpPr>
          <p:spPr>
            <a:xfrm>
              <a:off x="7918704" y="1591056"/>
              <a:ext cx="2514600" cy="566928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15875">
              <a:solidFill>
                <a:srgbClr val="1F4E79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 31"/>
            <p:cNvSpPr/>
            <p:nvPr/>
          </p:nvSpPr>
          <p:spPr>
            <a:xfrm>
              <a:off x="8938489" y="1600519"/>
              <a:ext cx="139903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ESRI-LULC</a:t>
              </a:r>
              <a:endParaRPr lang="en-US" sz="1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Shape 32"/>
            <p:cNvSpPr/>
            <p:nvPr/>
          </p:nvSpPr>
          <p:spPr>
            <a:xfrm>
              <a:off x="10634472" y="1591056"/>
              <a:ext cx="2514600" cy="566928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15875">
              <a:solidFill>
                <a:srgbClr val="1F4E79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33"/>
            <p:cNvSpPr/>
            <p:nvPr/>
          </p:nvSpPr>
          <p:spPr>
            <a:xfrm>
              <a:off x="11750040" y="1568515"/>
              <a:ext cx="1344168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7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TerraClimate</a:t>
              </a:r>
              <a:endParaRPr lang="en-US" sz="1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Shape 34"/>
            <p:cNvSpPr/>
            <p:nvPr/>
          </p:nvSpPr>
          <p:spPr>
            <a:xfrm>
              <a:off x="13350240" y="1591056"/>
              <a:ext cx="2514600" cy="566928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15875">
              <a:solidFill>
                <a:srgbClr val="1F4E79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35"/>
            <p:cNvSpPr/>
            <p:nvPr/>
          </p:nvSpPr>
          <p:spPr>
            <a:xfrm>
              <a:off x="13917168" y="1591056"/>
              <a:ext cx="187452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ERA5-Land</a:t>
              </a:r>
              <a:endParaRPr lang="en-US" sz="1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Shape 36"/>
            <p:cNvSpPr/>
            <p:nvPr/>
          </p:nvSpPr>
          <p:spPr>
            <a:xfrm>
              <a:off x="567672" y="2286000"/>
              <a:ext cx="1430978" cy="566928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15875">
              <a:solidFill>
                <a:srgbClr val="1F4E79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 37"/>
            <p:cNvSpPr/>
            <p:nvPr/>
          </p:nvSpPr>
          <p:spPr>
            <a:xfrm>
              <a:off x="485637" y="2289083"/>
              <a:ext cx="160020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0000"/>
                </a:lnSpc>
                <a:buNone/>
              </a:pPr>
              <a:r>
                <a:rPr lang="en-US" sz="1650" b="1" dirty="0">
                  <a:solidFill>
                    <a:srgbClr val="1F4E79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Vector</a:t>
              </a:r>
              <a:r>
                <a:rPr lang="en-US" sz="16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50" b="1" dirty="0">
                  <a:solidFill>
                    <a:srgbClr val="1F4E79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layers</a:t>
              </a:r>
              <a:endParaRPr lang="en-US" sz="1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Shape 38"/>
            <p:cNvSpPr/>
            <p:nvPr/>
          </p:nvSpPr>
          <p:spPr>
            <a:xfrm>
              <a:off x="2487168" y="2286000"/>
              <a:ext cx="7086600" cy="566928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15875">
              <a:solidFill>
                <a:srgbClr val="1F4E79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6" name="Image 5" descr="icons/mapl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88336" y="2423160"/>
              <a:ext cx="292608" cy="292608"/>
            </a:xfrm>
            <a:prstGeom prst="rect">
              <a:avLst/>
            </a:prstGeom>
          </p:spPr>
        </p:pic>
        <p:sp>
          <p:nvSpPr>
            <p:cNvPr id="47" name="Text 39"/>
            <p:cNvSpPr/>
            <p:nvPr/>
          </p:nvSpPr>
          <p:spPr>
            <a:xfrm>
              <a:off x="3090672" y="2286000"/>
              <a:ext cx="640080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5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Canadian Wildland Fire Information System (CWFIS)     2000-2024</a:t>
              </a:r>
              <a:endParaRPr lang="en-US" sz="1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Shape 40"/>
            <p:cNvSpPr/>
            <p:nvPr/>
          </p:nvSpPr>
          <p:spPr>
            <a:xfrm>
              <a:off x="9774936" y="2286000"/>
              <a:ext cx="6089904" cy="566928"/>
            </a:xfrm>
            <a:prstGeom prst="roundRect">
              <a:avLst>
                <a:gd name="adj" fmla="val 9677"/>
              </a:avLst>
            </a:prstGeom>
            <a:solidFill>
              <a:srgbClr val="FFFFFF"/>
            </a:solidFill>
            <a:ln w="15875">
              <a:solidFill>
                <a:srgbClr val="1F4E79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9" name="Image 6" descr="icons/mapl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75720" y="2423160"/>
              <a:ext cx="292608" cy="292608"/>
            </a:xfrm>
            <a:prstGeom prst="rect">
              <a:avLst/>
            </a:prstGeom>
          </p:spPr>
        </p:pic>
        <p:sp>
          <p:nvSpPr>
            <p:cNvPr id="50" name="Text 41"/>
            <p:cNvSpPr/>
            <p:nvPr/>
          </p:nvSpPr>
          <p:spPr>
            <a:xfrm>
              <a:off x="11878056" y="2286000"/>
              <a:ext cx="384048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5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Natural Resources Canada</a:t>
              </a:r>
              <a:endParaRPr lang="en-US" sz="1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Shape 43"/>
            <p:cNvSpPr/>
            <p:nvPr/>
          </p:nvSpPr>
          <p:spPr>
            <a:xfrm>
              <a:off x="11567160" y="2953512"/>
              <a:ext cx="0" cy="310896"/>
            </a:xfrm>
            <a:prstGeom prst="line">
              <a:avLst/>
            </a:prstGeom>
            <a:noFill/>
            <a:ln w="34925">
              <a:solidFill>
                <a:srgbClr val="7F7F7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Shape 44"/>
            <p:cNvSpPr/>
            <p:nvPr/>
          </p:nvSpPr>
          <p:spPr>
            <a:xfrm>
              <a:off x="365760" y="3300984"/>
              <a:ext cx="6309360" cy="4206240"/>
            </a:xfrm>
            <a:prstGeom prst="rect">
              <a:avLst/>
            </a:prstGeom>
            <a:solidFill>
              <a:srgbClr val="EFF7F0"/>
            </a:solidFill>
            <a:ln w="19050">
              <a:solidFill>
                <a:srgbClr val="3A7D44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Shape 45"/>
            <p:cNvSpPr/>
            <p:nvPr/>
          </p:nvSpPr>
          <p:spPr>
            <a:xfrm>
              <a:off x="365760" y="3300984"/>
              <a:ext cx="6309360" cy="475488"/>
            </a:xfrm>
            <a:prstGeom prst="rect">
              <a:avLst/>
            </a:prstGeom>
            <a:solidFill>
              <a:srgbClr val="3A7D44"/>
            </a:solidFill>
            <a:ln w="12700">
              <a:solidFill>
                <a:srgbClr val="3A7D44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 46"/>
            <p:cNvSpPr/>
            <p:nvPr/>
          </p:nvSpPr>
          <p:spPr>
            <a:xfrm>
              <a:off x="566928" y="3300984"/>
              <a:ext cx="5943600" cy="4754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2.  Predictor Variables</a:t>
              </a:r>
              <a:endParaRPr lang="en-US" sz="2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 47"/>
            <p:cNvSpPr/>
            <p:nvPr/>
          </p:nvSpPr>
          <p:spPr>
            <a:xfrm>
              <a:off x="599676" y="4692786"/>
              <a:ext cx="1453896" cy="329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3A7D44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Topographic</a:t>
              </a:r>
              <a:endParaRPr lang="en-US" sz="1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Text 48"/>
            <p:cNvSpPr/>
            <p:nvPr/>
          </p:nvSpPr>
          <p:spPr>
            <a:xfrm>
              <a:off x="713232" y="5088636"/>
              <a:ext cx="1737360" cy="1783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52400" indent="-152400" algn="l">
                <a:lnSpc>
                  <a:spcPct val="98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Aspect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52400" indent="-152400" algn="l">
                <a:lnSpc>
                  <a:spcPct val="98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Slope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52400" indent="-152400" algn="l">
                <a:lnSpc>
                  <a:spcPct val="98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Elevation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52400" indent="-152400" algn="l">
                <a:lnSpc>
                  <a:spcPct val="98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TWI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52400" indent="-152400" algn="l">
                <a:lnSpc>
                  <a:spcPct val="98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Profile curvature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52400" indent="-152400" algn="l">
                <a:lnSpc>
                  <a:spcPct val="98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Plan curvature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 49"/>
            <p:cNvSpPr/>
            <p:nvPr/>
          </p:nvSpPr>
          <p:spPr>
            <a:xfrm>
              <a:off x="2450592" y="4690234"/>
              <a:ext cx="1819656" cy="329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3A7D44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Environmental</a:t>
              </a:r>
              <a:endParaRPr lang="en-US" sz="1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 50"/>
            <p:cNvSpPr/>
            <p:nvPr/>
          </p:nvSpPr>
          <p:spPr>
            <a:xfrm>
              <a:off x="2487168" y="5088636"/>
              <a:ext cx="2103120" cy="1783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52400" indent="-152400" algn="l">
                <a:lnSpc>
                  <a:spcPct val="98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Land use / land cover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52400" indent="-152400" algn="l">
                <a:lnSpc>
                  <a:spcPct val="98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Distance from rivers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52400" indent="-152400" algn="l">
                <a:lnSpc>
                  <a:spcPct val="98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Distance from households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52400" indent="-152400" algn="l">
                <a:lnSpc>
                  <a:spcPct val="98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Distance from roads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Text 51"/>
            <p:cNvSpPr/>
            <p:nvPr/>
          </p:nvSpPr>
          <p:spPr>
            <a:xfrm>
              <a:off x="4791456" y="4690234"/>
              <a:ext cx="1316736" cy="329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3A7D44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Vegetation</a:t>
              </a:r>
              <a:endParaRPr lang="en-US" sz="1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Text 52"/>
            <p:cNvSpPr/>
            <p:nvPr/>
          </p:nvSpPr>
          <p:spPr>
            <a:xfrm>
              <a:off x="4880025" y="5088636"/>
              <a:ext cx="1600200" cy="1783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52400" indent="-152400" algn="just">
                <a:lnSpc>
                  <a:spcPct val="98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6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NDVI (Normalized Difference Vegetation Index)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Shape 53"/>
            <p:cNvSpPr/>
            <p:nvPr/>
          </p:nvSpPr>
          <p:spPr>
            <a:xfrm>
              <a:off x="621792" y="7059168"/>
              <a:ext cx="5797296" cy="438912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12700">
              <a:solidFill>
                <a:srgbClr val="3A7D44"/>
              </a:solidFill>
              <a:prstDash val="dash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Text 54"/>
            <p:cNvSpPr/>
            <p:nvPr/>
          </p:nvSpPr>
          <p:spPr>
            <a:xfrm>
              <a:off x="713232" y="7059168"/>
              <a:ext cx="5614416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2000"/>
                </a:lnSpc>
                <a:buNone/>
              </a:pPr>
              <a:r>
                <a:rPr lang="en-US" sz="1400" dirty="0">
                  <a:solidFill>
                    <a:srgbClr val="40404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All predictors resampled to 1.5 km and harmonized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lnSpc>
                  <a:spcPct val="92000"/>
                </a:lnSpc>
                <a:buNone/>
              </a:pPr>
              <a:r>
                <a:rPr lang="en-US" sz="1400" dirty="0">
                  <a:solidFill>
                    <a:srgbClr val="40404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to a common grid </a:t>
              </a:r>
              <a:r>
                <a:rPr lang="en-US" sz="1400" b="1" dirty="0">
                  <a:solidFill>
                    <a:srgbClr val="404040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(BC Albers, EPSG:3005)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Shape 55"/>
            <p:cNvSpPr/>
            <p:nvPr/>
          </p:nvSpPr>
          <p:spPr>
            <a:xfrm>
              <a:off x="7040880" y="3300984"/>
              <a:ext cx="9052560" cy="4206240"/>
            </a:xfrm>
            <a:prstGeom prst="rect">
              <a:avLst/>
            </a:prstGeom>
            <a:solidFill>
              <a:srgbClr val="E9F4F4"/>
            </a:solidFill>
            <a:ln w="19050">
              <a:solidFill>
                <a:srgbClr val="00696D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Shape 56"/>
            <p:cNvSpPr/>
            <p:nvPr/>
          </p:nvSpPr>
          <p:spPr>
            <a:xfrm>
              <a:off x="7040880" y="3300984"/>
              <a:ext cx="9052560" cy="475488"/>
            </a:xfrm>
            <a:prstGeom prst="rect">
              <a:avLst/>
            </a:prstGeom>
            <a:solidFill>
              <a:srgbClr val="00696D"/>
            </a:solidFill>
            <a:ln w="12700">
              <a:solidFill>
                <a:srgbClr val="00696D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Text 57"/>
            <p:cNvSpPr/>
            <p:nvPr/>
          </p:nvSpPr>
          <p:spPr>
            <a:xfrm>
              <a:off x="7242048" y="3300984"/>
              <a:ext cx="8686800" cy="4754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3.  Spatiotemporal Analyses (2000-2024)</a:t>
              </a:r>
              <a:endParaRPr lang="en-US" sz="2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 58"/>
            <p:cNvSpPr/>
            <p:nvPr/>
          </p:nvSpPr>
          <p:spPr>
            <a:xfrm>
              <a:off x="7662672" y="3913632"/>
              <a:ext cx="2359152" cy="329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0696D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Fire inventory</a:t>
              </a:r>
              <a:endParaRPr lang="en-US" sz="1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Text 59"/>
            <p:cNvSpPr/>
            <p:nvPr/>
          </p:nvSpPr>
          <p:spPr>
            <a:xfrm>
              <a:off x="11027664" y="3913632"/>
              <a:ext cx="1901952" cy="329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0696D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Burned area</a:t>
              </a:r>
              <a:endParaRPr lang="en-US" sz="1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Text 60"/>
            <p:cNvSpPr/>
            <p:nvPr/>
          </p:nvSpPr>
          <p:spPr>
            <a:xfrm>
              <a:off x="13478256" y="3913632"/>
              <a:ext cx="2359152" cy="329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 dirty="0">
                  <a:solidFill>
                    <a:srgbClr val="00696D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Climate</a:t>
              </a:r>
              <a:endParaRPr lang="en-US" sz="1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Shape 61"/>
            <p:cNvSpPr/>
            <p:nvPr/>
          </p:nvSpPr>
          <p:spPr>
            <a:xfrm>
              <a:off x="7296912" y="4352544"/>
              <a:ext cx="2724912" cy="64008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5875">
              <a:solidFill>
                <a:srgbClr val="00696D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Text 62"/>
            <p:cNvSpPr/>
            <p:nvPr/>
          </p:nvSpPr>
          <p:spPr>
            <a:xfrm>
              <a:off x="7342632" y="4352544"/>
              <a:ext cx="263347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6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National fire database fire point data 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Shape 63"/>
            <p:cNvSpPr/>
            <p:nvPr/>
          </p:nvSpPr>
          <p:spPr>
            <a:xfrm>
              <a:off x="8659368" y="5029200"/>
              <a:ext cx="0" cy="201168"/>
            </a:xfrm>
            <a:prstGeom prst="line">
              <a:avLst/>
            </a:prstGeom>
            <a:noFill/>
            <a:ln w="25400">
              <a:solidFill>
                <a:srgbClr val="7F7F7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Shape 64"/>
            <p:cNvSpPr/>
            <p:nvPr/>
          </p:nvSpPr>
          <p:spPr>
            <a:xfrm>
              <a:off x="7296912" y="5266944"/>
              <a:ext cx="2724912" cy="54864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875">
              <a:solidFill>
                <a:srgbClr val="00696D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 65"/>
            <p:cNvSpPr/>
            <p:nvPr/>
          </p:nvSpPr>
          <p:spPr>
            <a:xfrm>
              <a:off x="7342632" y="5266944"/>
              <a:ext cx="263347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6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Annual &amp; monthly fire trends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Shape 66"/>
            <p:cNvSpPr/>
            <p:nvPr/>
          </p:nvSpPr>
          <p:spPr>
            <a:xfrm>
              <a:off x="8659368" y="5852160"/>
              <a:ext cx="0" cy="292608"/>
            </a:xfrm>
            <a:prstGeom prst="line">
              <a:avLst/>
            </a:prstGeom>
            <a:noFill/>
            <a:ln w="25400">
              <a:solidFill>
                <a:srgbClr val="7F7F7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Shape 67"/>
            <p:cNvSpPr/>
            <p:nvPr/>
          </p:nvSpPr>
          <p:spPr>
            <a:xfrm>
              <a:off x="7296912" y="6181344"/>
              <a:ext cx="2724912" cy="54864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875">
              <a:solidFill>
                <a:srgbClr val="00696D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 68"/>
            <p:cNvSpPr/>
            <p:nvPr/>
          </p:nvSpPr>
          <p:spPr>
            <a:xfrm>
              <a:off x="7342632" y="6181344"/>
              <a:ext cx="263347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6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District-wise analysis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Shape 69"/>
            <p:cNvSpPr/>
            <p:nvPr/>
          </p:nvSpPr>
          <p:spPr>
            <a:xfrm>
              <a:off x="10204704" y="4352544"/>
              <a:ext cx="2724912" cy="64008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5875">
              <a:solidFill>
                <a:srgbClr val="00696D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 70"/>
            <p:cNvSpPr/>
            <p:nvPr/>
          </p:nvSpPr>
          <p:spPr>
            <a:xfrm>
              <a:off x="10250424" y="4352544"/>
              <a:ext cx="263347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6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National burned-area composite data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Shape 71"/>
            <p:cNvSpPr/>
            <p:nvPr/>
          </p:nvSpPr>
          <p:spPr>
            <a:xfrm>
              <a:off x="11567160" y="5029200"/>
              <a:ext cx="0" cy="201168"/>
            </a:xfrm>
            <a:prstGeom prst="line">
              <a:avLst/>
            </a:prstGeom>
            <a:noFill/>
            <a:ln w="25400">
              <a:solidFill>
                <a:srgbClr val="7F7F7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Shape 72"/>
            <p:cNvSpPr/>
            <p:nvPr/>
          </p:nvSpPr>
          <p:spPr>
            <a:xfrm>
              <a:off x="10204704" y="5266944"/>
              <a:ext cx="2724912" cy="64008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5875">
              <a:solidFill>
                <a:srgbClr val="00696D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Text 73"/>
            <p:cNvSpPr/>
            <p:nvPr/>
          </p:nvSpPr>
          <p:spPr>
            <a:xfrm>
              <a:off x="10250424" y="5266944"/>
              <a:ext cx="263347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6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Fire density maps </a:t>
              </a:r>
            </a:p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6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(annual · monthly · seasonal)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Shape 74"/>
            <p:cNvSpPr/>
            <p:nvPr/>
          </p:nvSpPr>
          <p:spPr>
            <a:xfrm>
              <a:off x="11567160" y="5943600"/>
              <a:ext cx="0" cy="201168"/>
            </a:xfrm>
            <a:prstGeom prst="line">
              <a:avLst/>
            </a:prstGeom>
            <a:noFill/>
            <a:ln w="25400">
              <a:solidFill>
                <a:srgbClr val="7F7F7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Shape 75"/>
            <p:cNvSpPr/>
            <p:nvPr/>
          </p:nvSpPr>
          <p:spPr>
            <a:xfrm>
              <a:off x="10204704" y="6181344"/>
              <a:ext cx="2724912" cy="54864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875">
              <a:solidFill>
                <a:srgbClr val="00696D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Text 76"/>
            <p:cNvSpPr/>
            <p:nvPr/>
          </p:nvSpPr>
          <p:spPr>
            <a:xfrm>
              <a:off x="10250424" y="6181344"/>
              <a:ext cx="263347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6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District-wise analysis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Shape 77"/>
            <p:cNvSpPr/>
            <p:nvPr/>
          </p:nvSpPr>
          <p:spPr>
            <a:xfrm>
              <a:off x="13112496" y="4352544"/>
              <a:ext cx="2724912" cy="64008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15875">
              <a:solidFill>
                <a:srgbClr val="00696D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Text 78"/>
            <p:cNvSpPr/>
            <p:nvPr/>
          </p:nvSpPr>
          <p:spPr>
            <a:xfrm>
              <a:off x="13158216" y="4352544"/>
              <a:ext cx="263347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6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Climatic data (2000-2024)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Shape 79"/>
            <p:cNvSpPr/>
            <p:nvPr/>
          </p:nvSpPr>
          <p:spPr>
            <a:xfrm>
              <a:off x="14474952" y="5029200"/>
              <a:ext cx="0" cy="201168"/>
            </a:xfrm>
            <a:prstGeom prst="line">
              <a:avLst/>
            </a:prstGeom>
            <a:noFill/>
            <a:ln w="25400">
              <a:solidFill>
                <a:srgbClr val="7F7F7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Shape 80"/>
            <p:cNvSpPr/>
            <p:nvPr/>
          </p:nvSpPr>
          <p:spPr>
            <a:xfrm>
              <a:off x="13112496" y="5266944"/>
              <a:ext cx="2724912" cy="54864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5875">
              <a:solidFill>
                <a:srgbClr val="00696D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Text 81"/>
            <p:cNvSpPr/>
            <p:nvPr/>
          </p:nvSpPr>
          <p:spPr>
            <a:xfrm>
              <a:off x="13158216" y="5266944"/>
              <a:ext cx="263347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6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Climate variability &amp; trends</a:t>
              </a:r>
              <a:endParaRPr 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Shape 83"/>
            <p:cNvSpPr/>
            <p:nvPr/>
          </p:nvSpPr>
          <p:spPr>
            <a:xfrm>
              <a:off x="13112496" y="6181344"/>
              <a:ext cx="2724912" cy="1188720"/>
            </a:xfrm>
            <a:prstGeom prst="roundRect">
              <a:avLst>
                <a:gd name="adj" fmla="val 4615"/>
              </a:avLst>
            </a:prstGeom>
            <a:solidFill>
              <a:srgbClr val="FFFFFF"/>
            </a:solidFill>
            <a:ln w="15875">
              <a:solidFill>
                <a:srgbClr val="00696D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Text 84"/>
            <p:cNvSpPr/>
            <p:nvPr/>
          </p:nvSpPr>
          <p:spPr>
            <a:xfrm>
              <a:off x="13158216" y="6181344"/>
              <a:ext cx="2633472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45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Temperature · Wind speed · Relative humidity · Precipitation · Evapotranspiration · Drought severity index · Soil moisture</a:t>
              </a:r>
              <a:endParaRPr lang="en-US" sz="14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Shape 89"/>
            <p:cNvSpPr/>
            <p:nvPr/>
          </p:nvSpPr>
          <p:spPr>
            <a:xfrm>
              <a:off x="365760" y="7882128"/>
              <a:ext cx="6309360" cy="1920240"/>
            </a:xfrm>
            <a:prstGeom prst="rect">
              <a:avLst/>
            </a:prstGeom>
            <a:solidFill>
              <a:srgbClr val="F2EFF9"/>
            </a:solidFill>
            <a:ln w="19050">
              <a:solidFill>
                <a:srgbClr val="6A4FA3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Shape 90"/>
            <p:cNvSpPr/>
            <p:nvPr/>
          </p:nvSpPr>
          <p:spPr>
            <a:xfrm>
              <a:off x="365760" y="7882128"/>
              <a:ext cx="6309360" cy="475488"/>
            </a:xfrm>
            <a:prstGeom prst="rect">
              <a:avLst/>
            </a:prstGeom>
            <a:solidFill>
              <a:srgbClr val="6A4FA3"/>
            </a:solidFill>
            <a:ln w="12700">
              <a:solidFill>
                <a:srgbClr val="6A4FA3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9" name="Text 91"/>
            <p:cNvSpPr/>
            <p:nvPr/>
          </p:nvSpPr>
          <p:spPr>
            <a:xfrm>
              <a:off x="566928" y="7882128"/>
              <a:ext cx="5943600" cy="4754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4.  Data Preparation &amp; Sampling</a:t>
              </a:r>
              <a:endParaRPr lang="en-US" sz="2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Shape 92"/>
            <p:cNvSpPr/>
            <p:nvPr/>
          </p:nvSpPr>
          <p:spPr>
            <a:xfrm>
              <a:off x="621792" y="8503920"/>
              <a:ext cx="1243584" cy="969264"/>
            </a:xfrm>
            <a:prstGeom prst="roundRect">
              <a:avLst>
                <a:gd name="adj" fmla="val 5660"/>
              </a:avLst>
            </a:prstGeom>
            <a:solidFill>
              <a:srgbClr val="FFFFFF"/>
            </a:solidFill>
            <a:ln w="15875">
              <a:solidFill>
                <a:srgbClr val="6A4FA3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Text 93"/>
            <p:cNvSpPr/>
            <p:nvPr/>
          </p:nvSpPr>
          <p:spPr>
            <a:xfrm>
              <a:off x="658368" y="8908914"/>
              <a:ext cx="117043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2000"/>
                </a:lnSpc>
                <a:buNone/>
              </a:pPr>
              <a:r>
                <a:rPr lang="en-US" sz="145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Inventory maps preparation</a:t>
              </a:r>
              <a:endParaRPr lang="en-US" sz="14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2" name="Image 16" descr="icons/databas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1515" y="8534321"/>
              <a:ext cx="316956" cy="403509"/>
            </a:xfrm>
            <a:prstGeom prst="rect">
              <a:avLst/>
            </a:prstGeom>
          </p:spPr>
        </p:pic>
        <p:sp>
          <p:nvSpPr>
            <p:cNvPr id="114" name="Shape 95"/>
            <p:cNvSpPr/>
            <p:nvPr/>
          </p:nvSpPr>
          <p:spPr>
            <a:xfrm>
              <a:off x="2139696" y="8503920"/>
              <a:ext cx="1243584" cy="1031358"/>
            </a:xfrm>
            <a:prstGeom prst="roundRect">
              <a:avLst>
                <a:gd name="adj" fmla="val 5660"/>
              </a:avLst>
            </a:prstGeom>
            <a:solidFill>
              <a:srgbClr val="FFFFFF"/>
            </a:solidFill>
            <a:ln w="15875">
              <a:solidFill>
                <a:srgbClr val="6A4FA3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Text 96"/>
            <p:cNvSpPr/>
            <p:nvPr/>
          </p:nvSpPr>
          <p:spPr>
            <a:xfrm>
              <a:off x="2176272" y="8913255"/>
              <a:ext cx="117043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2000"/>
                </a:lnSpc>
                <a:buNone/>
              </a:pPr>
              <a:r>
                <a:rPr lang="en-US" sz="145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Wildfire points</a:t>
              </a:r>
              <a:endParaRPr lang="en-US" sz="14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lnSpc>
                  <a:spcPct val="92000"/>
                </a:lnSpc>
                <a:buNone/>
              </a:pPr>
              <a:r>
                <a:rPr lang="en-US" sz="145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2000-2024</a:t>
              </a:r>
              <a:endParaRPr lang="en-US" sz="14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16" name="Image 17" descr="icons/pin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18508" y="8534321"/>
              <a:ext cx="347472" cy="374593"/>
            </a:xfrm>
            <a:prstGeom prst="rect">
              <a:avLst/>
            </a:prstGeom>
          </p:spPr>
        </p:pic>
        <p:sp>
          <p:nvSpPr>
            <p:cNvPr id="118" name="Shape 98"/>
            <p:cNvSpPr/>
            <p:nvPr/>
          </p:nvSpPr>
          <p:spPr>
            <a:xfrm>
              <a:off x="3657600" y="8503920"/>
              <a:ext cx="1243584" cy="1024128"/>
            </a:xfrm>
            <a:prstGeom prst="roundRect">
              <a:avLst>
                <a:gd name="adj" fmla="val 5660"/>
              </a:avLst>
            </a:prstGeom>
            <a:solidFill>
              <a:srgbClr val="FFFFFF"/>
            </a:solidFill>
            <a:ln w="15875">
              <a:solidFill>
                <a:srgbClr val="6A4FA3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Text 99"/>
            <p:cNvSpPr/>
            <p:nvPr/>
          </p:nvSpPr>
          <p:spPr>
            <a:xfrm>
              <a:off x="3706482" y="8877867"/>
              <a:ext cx="1170432" cy="5404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2000"/>
                </a:lnSpc>
                <a:buNone/>
              </a:pPr>
              <a:r>
                <a:rPr lang="en-US" sz="145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1,992 fire, 1,992 non-fire points </a:t>
              </a:r>
              <a:endParaRPr lang="en-US" sz="14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20" name="Image 18" descr="icons/balanc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73881" y="8503274"/>
              <a:ext cx="438912" cy="374593"/>
            </a:xfrm>
            <a:prstGeom prst="rect">
              <a:avLst/>
            </a:prstGeom>
          </p:spPr>
        </p:pic>
        <p:sp>
          <p:nvSpPr>
            <p:cNvPr id="122" name="Shape 101"/>
            <p:cNvSpPr/>
            <p:nvPr/>
          </p:nvSpPr>
          <p:spPr>
            <a:xfrm>
              <a:off x="5175504" y="8503920"/>
              <a:ext cx="1243584" cy="969264"/>
            </a:xfrm>
            <a:prstGeom prst="roundRect">
              <a:avLst>
                <a:gd name="adj" fmla="val 5660"/>
              </a:avLst>
            </a:prstGeom>
            <a:solidFill>
              <a:srgbClr val="FFFFFF"/>
            </a:solidFill>
            <a:ln w="15875">
              <a:solidFill>
                <a:srgbClr val="6A4FA3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3" name="Text 102"/>
            <p:cNvSpPr/>
            <p:nvPr/>
          </p:nvSpPr>
          <p:spPr>
            <a:xfrm>
              <a:off x="5212080" y="8937830"/>
              <a:ext cx="1170432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2000"/>
                </a:lnSpc>
                <a:buNone/>
              </a:pPr>
              <a:r>
                <a:rPr lang="en-US" sz="145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Raster to point (1.5 km grid)</a:t>
              </a:r>
              <a:endParaRPr lang="en-US" sz="14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24" name="Image 19" descr="icons/rastergri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06599" y="8534321"/>
              <a:ext cx="429768" cy="403509"/>
            </a:xfrm>
            <a:prstGeom prst="rect">
              <a:avLst/>
            </a:prstGeom>
          </p:spPr>
        </p:pic>
        <p:sp>
          <p:nvSpPr>
            <p:cNvPr id="125" name="Text 103"/>
            <p:cNvSpPr/>
            <p:nvPr/>
          </p:nvSpPr>
          <p:spPr>
            <a:xfrm>
              <a:off x="365760" y="9528048"/>
              <a:ext cx="6309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50" dirty="0">
                  <a:solidFill>
                    <a:srgbClr val="595959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Implemented in ArcGIS Pro 3.6</a:t>
              </a:r>
              <a:endParaRPr lang="en-US"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7" name="Shape 105"/>
            <p:cNvSpPr/>
            <p:nvPr/>
          </p:nvSpPr>
          <p:spPr>
            <a:xfrm>
              <a:off x="7040880" y="7882128"/>
              <a:ext cx="9052560" cy="1920240"/>
            </a:xfrm>
            <a:prstGeom prst="rect">
              <a:avLst/>
            </a:prstGeom>
            <a:solidFill>
              <a:srgbClr val="FDF3EA"/>
            </a:solidFill>
            <a:ln w="19050">
              <a:solidFill>
                <a:srgbClr val="C65911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8" name="Shape 106"/>
            <p:cNvSpPr/>
            <p:nvPr/>
          </p:nvSpPr>
          <p:spPr>
            <a:xfrm>
              <a:off x="7040880" y="7882128"/>
              <a:ext cx="9052560" cy="475488"/>
            </a:xfrm>
            <a:prstGeom prst="rect">
              <a:avLst/>
            </a:prstGeom>
            <a:solidFill>
              <a:srgbClr val="C65911"/>
            </a:solidFill>
            <a:ln w="12700">
              <a:solidFill>
                <a:srgbClr val="C65911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Text 107"/>
            <p:cNvSpPr/>
            <p:nvPr/>
          </p:nvSpPr>
          <p:spPr>
            <a:xfrm>
              <a:off x="7242048" y="7882128"/>
              <a:ext cx="8686800" cy="4754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5.  Modeling Pipeline</a:t>
              </a:r>
              <a:endParaRPr lang="en-US" sz="2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0" name="Shape 108"/>
            <p:cNvSpPr/>
            <p:nvPr/>
          </p:nvSpPr>
          <p:spPr>
            <a:xfrm>
              <a:off x="7351776" y="8503920"/>
              <a:ext cx="1481328" cy="969264"/>
            </a:xfrm>
            <a:prstGeom prst="roundRect">
              <a:avLst>
                <a:gd name="adj" fmla="val 5660"/>
              </a:avLst>
            </a:prstGeom>
            <a:solidFill>
              <a:srgbClr val="FFFFFF"/>
            </a:solidFill>
            <a:ln w="15875">
              <a:solidFill>
                <a:srgbClr val="C65911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1" name="Text 109"/>
            <p:cNvSpPr/>
            <p:nvPr/>
          </p:nvSpPr>
          <p:spPr>
            <a:xfrm>
              <a:off x="7397496" y="8851392"/>
              <a:ext cx="140817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2000"/>
                </a:lnSpc>
                <a:buNone/>
              </a:pPr>
              <a:r>
                <a:rPr lang="en-US" sz="145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Dataset split </a:t>
              </a:r>
            </a:p>
            <a:p>
              <a:pPr marL="0" indent="0" algn="just">
                <a:lnSpc>
                  <a:spcPct val="92000"/>
                </a:lnSpc>
                <a:buNone/>
              </a:pPr>
              <a:r>
                <a:rPr lang="en-US" sz="145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(70% training/30% testing)</a:t>
              </a:r>
              <a:endParaRPr lang="en-US" sz="14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32" name="Image 20" descr="icons/pi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18704" y="8532309"/>
              <a:ext cx="369890" cy="319083"/>
            </a:xfrm>
            <a:prstGeom prst="rect">
              <a:avLst/>
            </a:prstGeom>
          </p:spPr>
        </p:pic>
        <p:sp>
          <p:nvSpPr>
            <p:cNvPr id="134" name="Shape 111"/>
            <p:cNvSpPr/>
            <p:nvPr/>
          </p:nvSpPr>
          <p:spPr>
            <a:xfrm>
              <a:off x="9089136" y="8503920"/>
              <a:ext cx="1481328" cy="969264"/>
            </a:xfrm>
            <a:prstGeom prst="roundRect">
              <a:avLst>
                <a:gd name="adj" fmla="val 5660"/>
              </a:avLst>
            </a:prstGeom>
            <a:solidFill>
              <a:srgbClr val="FFFFFF"/>
            </a:solidFill>
            <a:ln w="15875">
              <a:solidFill>
                <a:srgbClr val="C65911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Text 112"/>
            <p:cNvSpPr/>
            <p:nvPr/>
          </p:nvSpPr>
          <p:spPr>
            <a:xfrm>
              <a:off x="9125712" y="8857293"/>
              <a:ext cx="140817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2000"/>
                </a:lnSpc>
                <a:buNone/>
              </a:pPr>
              <a:r>
                <a:rPr lang="en-US" sz="145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Preprocessing &amp; feature selection (RF-RFE)</a:t>
              </a:r>
              <a:endParaRPr lang="en-US" sz="14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36" name="Image 21" descr="icons/tasks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661614" y="8525450"/>
              <a:ext cx="336829" cy="331843"/>
            </a:xfrm>
            <a:prstGeom prst="rect">
              <a:avLst/>
            </a:prstGeom>
          </p:spPr>
        </p:pic>
        <p:sp>
          <p:nvSpPr>
            <p:cNvPr id="138" name="Shape 114"/>
            <p:cNvSpPr/>
            <p:nvPr/>
          </p:nvSpPr>
          <p:spPr>
            <a:xfrm>
              <a:off x="10826496" y="8503920"/>
              <a:ext cx="1481328" cy="969264"/>
            </a:xfrm>
            <a:prstGeom prst="roundRect">
              <a:avLst>
                <a:gd name="adj" fmla="val 5660"/>
              </a:avLst>
            </a:prstGeom>
            <a:solidFill>
              <a:srgbClr val="FFFFFF"/>
            </a:solidFill>
            <a:ln w="15875">
              <a:solidFill>
                <a:srgbClr val="C65911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Text 115"/>
            <p:cNvSpPr/>
            <p:nvPr/>
          </p:nvSpPr>
          <p:spPr>
            <a:xfrm>
              <a:off x="10917936" y="8871654"/>
              <a:ext cx="140817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2000"/>
                </a:lnSpc>
                <a:buNone/>
              </a:pPr>
              <a:r>
                <a:rPr lang="en-US" sz="145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10-fold spatial </a:t>
              </a:r>
            </a:p>
            <a:p>
              <a:pPr marL="0" indent="0" algn="ctr">
                <a:lnSpc>
                  <a:spcPct val="92000"/>
                </a:lnSpc>
                <a:buNone/>
              </a:pPr>
              <a:r>
                <a:rPr lang="en-US" sz="145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cross-validation</a:t>
              </a:r>
              <a:endParaRPr lang="en-US" sz="14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40" name="Image 22" descr="icons/cvgri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448859" y="8548173"/>
              <a:ext cx="346329" cy="322973"/>
            </a:xfrm>
            <a:prstGeom prst="rect">
              <a:avLst/>
            </a:prstGeom>
          </p:spPr>
        </p:pic>
        <p:sp>
          <p:nvSpPr>
            <p:cNvPr id="142" name="Shape 117"/>
            <p:cNvSpPr/>
            <p:nvPr/>
          </p:nvSpPr>
          <p:spPr>
            <a:xfrm>
              <a:off x="12563856" y="8503920"/>
              <a:ext cx="1481328" cy="969264"/>
            </a:xfrm>
            <a:prstGeom prst="roundRect">
              <a:avLst>
                <a:gd name="adj" fmla="val 5660"/>
              </a:avLst>
            </a:prstGeom>
            <a:solidFill>
              <a:srgbClr val="FFFFFF"/>
            </a:solidFill>
            <a:ln w="15875">
              <a:solidFill>
                <a:srgbClr val="C65911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Text 118"/>
            <p:cNvSpPr/>
            <p:nvPr/>
          </p:nvSpPr>
          <p:spPr>
            <a:xfrm>
              <a:off x="12601448" y="8878824"/>
              <a:ext cx="140817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2000"/>
                </a:lnSpc>
                <a:buNone/>
              </a:pPr>
              <a:r>
                <a:rPr lang="en-US" sz="145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DL models (LSTM &amp; BiLSTM)</a:t>
              </a:r>
              <a:endParaRPr lang="en-US" sz="14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44" name="Image 23" descr="icons/network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3094208" y="8503274"/>
              <a:ext cx="406908" cy="403509"/>
            </a:xfrm>
            <a:prstGeom prst="rect">
              <a:avLst/>
            </a:prstGeom>
          </p:spPr>
        </p:pic>
        <p:sp>
          <p:nvSpPr>
            <p:cNvPr id="146" name="Shape 120"/>
            <p:cNvSpPr/>
            <p:nvPr/>
          </p:nvSpPr>
          <p:spPr>
            <a:xfrm>
              <a:off x="14301216" y="8503920"/>
              <a:ext cx="1481328" cy="969264"/>
            </a:xfrm>
            <a:prstGeom prst="roundRect">
              <a:avLst>
                <a:gd name="adj" fmla="val 5660"/>
              </a:avLst>
            </a:prstGeom>
            <a:solidFill>
              <a:srgbClr val="FFFFFF"/>
            </a:solidFill>
            <a:ln w="15875">
              <a:solidFill>
                <a:srgbClr val="C65911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Text 121"/>
            <p:cNvSpPr/>
            <p:nvPr/>
          </p:nvSpPr>
          <p:spPr>
            <a:xfrm>
              <a:off x="14337792" y="8857293"/>
              <a:ext cx="1408176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2000"/>
                </a:lnSpc>
                <a:buNone/>
              </a:pPr>
              <a:r>
                <a:rPr lang="en-US" sz="145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Hyperparameter optimization (PSO)</a:t>
              </a:r>
              <a:endParaRPr lang="en-US" sz="14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48" name="Image 24" descr="icons/sliders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4913864" y="8503920"/>
              <a:ext cx="364236" cy="358610"/>
            </a:xfrm>
            <a:prstGeom prst="rect">
              <a:avLst/>
            </a:prstGeom>
          </p:spPr>
        </p:pic>
        <p:sp>
          <p:nvSpPr>
            <p:cNvPr id="150" name="Shape 123"/>
            <p:cNvSpPr/>
            <p:nvPr/>
          </p:nvSpPr>
          <p:spPr>
            <a:xfrm>
              <a:off x="11064240" y="10177272"/>
              <a:ext cx="5029200" cy="3017520"/>
            </a:xfrm>
            <a:prstGeom prst="rect">
              <a:avLst/>
            </a:prstGeom>
            <a:solidFill>
              <a:srgbClr val="EEF3FB"/>
            </a:solidFill>
            <a:ln w="19050">
              <a:solidFill>
                <a:srgbClr val="2F5597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1" name="Shape 124"/>
            <p:cNvSpPr/>
            <p:nvPr/>
          </p:nvSpPr>
          <p:spPr>
            <a:xfrm>
              <a:off x="11064240" y="10177272"/>
              <a:ext cx="5029200" cy="475488"/>
            </a:xfrm>
            <a:prstGeom prst="rect">
              <a:avLst/>
            </a:prstGeom>
            <a:solidFill>
              <a:srgbClr val="2F5597"/>
            </a:solidFill>
            <a:ln w="12700">
              <a:solidFill>
                <a:srgbClr val="2F5597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2" name="Text 125"/>
            <p:cNvSpPr/>
            <p:nvPr/>
          </p:nvSpPr>
          <p:spPr>
            <a:xfrm>
              <a:off x="11265408" y="10177272"/>
              <a:ext cx="4663440" cy="4754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6.  Validation &amp; Interpretability</a:t>
              </a:r>
              <a:endParaRPr lang="en-US" sz="2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3" name="Shape 126"/>
            <p:cNvSpPr/>
            <p:nvPr/>
          </p:nvSpPr>
          <p:spPr>
            <a:xfrm>
              <a:off x="11301984" y="10835640"/>
              <a:ext cx="4553712" cy="100584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15875">
              <a:solidFill>
                <a:srgbClr val="2F5597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4" name="Image 25" descr="icons/chartbar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2490704" y="10808843"/>
              <a:ext cx="393192" cy="484632"/>
            </a:xfrm>
            <a:prstGeom prst="rect">
              <a:avLst/>
            </a:prstGeom>
          </p:spPr>
        </p:pic>
        <p:sp>
          <p:nvSpPr>
            <p:cNvPr id="155" name="Text 127"/>
            <p:cNvSpPr/>
            <p:nvPr/>
          </p:nvSpPr>
          <p:spPr>
            <a:xfrm>
              <a:off x="12815316" y="10908792"/>
              <a:ext cx="179222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50" b="1" dirty="0">
                  <a:solidFill>
                    <a:srgbClr val="2F5597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Model evaluation</a:t>
              </a:r>
              <a:endParaRPr lang="en-US" sz="1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Text 128"/>
            <p:cNvSpPr/>
            <p:nvPr/>
          </p:nvSpPr>
          <p:spPr>
            <a:xfrm>
              <a:off x="11503152" y="11292840"/>
              <a:ext cx="4169664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8000"/>
                </a:lnSpc>
                <a:buNone/>
              </a:pPr>
              <a:r>
                <a:rPr lang="en-US" sz="145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Accuracy · Sensitivity · Specificity · Precision · F1-score · ROC-AUC · PR-AUC</a:t>
              </a:r>
              <a:endParaRPr lang="en-US" sz="14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7" name="Shape 129"/>
            <p:cNvSpPr/>
            <p:nvPr/>
          </p:nvSpPr>
          <p:spPr>
            <a:xfrm>
              <a:off x="11301984" y="12024360"/>
              <a:ext cx="4553712" cy="100584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15875">
              <a:solidFill>
                <a:srgbClr val="2F5597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8" name="Image 26" descr="icons/shap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1840336" y="12075033"/>
              <a:ext cx="355473" cy="374904"/>
            </a:xfrm>
            <a:prstGeom prst="rect">
              <a:avLst/>
            </a:prstGeom>
          </p:spPr>
        </p:pic>
        <p:sp>
          <p:nvSpPr>
            <p:cNvPr id="159" name="Text 130"/>
            <p:cNvSpPr/>
            <p:nvPr/>
          </p:nvSpPr>
          <p:spPr>
            <a:xfrm>
              <a:off x="12307824" y="12070080"/>
              <a:ext cx="29016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2F5597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Interpretability SHAP analysis</a:t>
              </a:r>
              <a:endParaRPr lang="en-US" sz="1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0" name="Text 131"/>
            <p:cNvSpPr/>
            <p:nvPr/>
          </p:nvSpPr>
          <p:spPr>
            <a:xfrm>
              <a:off x="11503152" y="12481560"/>
              <a:ext cx="4169664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ct val="98000"/>
                </a:lnSpc>
                <a:buNone/>
              </a:pPr>
              <a:r>
                <a:rPr lang="en-US" sz="145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Influential-variable assessment global &amp; local feature attributions</a:t>
              </a:r>
              <a:endParaRPr lang="en-US" sz="14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Shape 133"/>
            <p:cNvSpPr/>
            <p:nvPr/>
          </p:nvSpPr>
          <p:spPr>
            <a:xfrm>
              <a:off x="365760" y="10177272"/>
              <a:ext cx="10332720" cy="3017520"/>
            </a:xfrm>
            <a:prstGeom prst="rect">
              <a:avLst/>
            </a:prstGeom>
            <a:solidFill>
              <a:srgbClr val="FBEFED"/>
            </a:solidFill>
            <a:ln w="19050">
              <a:solidFill>
                <a:srgbClr val="B02418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" name="Shape 134"/>
            <p:cNvSpPr/>
            <p:nvPr/>
          </p:nvSpPr>
          <p:spPr>
            <a:xfrm>
              <a:off x="365760" y="10177272"/>
              <a:ext cx="10332720" cy="475488"/>
            </a:xfrm>
            <a:prstGeom prst="rect">
              <a:avLst/>
            </a:prstGeom>
            <a:solidFill>
              <a:srgbClr val="B02418"/>
            </a:solidFill>
            <a:ln w="12700">
              <a:solidFill>
                <a:srgbClr val="B02418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" name="Text 135"/>
            <p:cNvSpPr/>
            <p:nvPr/>
          </p:nvSpPr>
          <p:spPr>
            <a:xfrm>
              <a:off x="566928" y="10177272"/>
              <a:ext cx="9966960" cy="4754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7.  Outputs &amp; Exposure Assessment</a:t>
              </a:r>
              <a:endParaRPr lang="en-US" sz="2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5" name="Shape 136"/>
            <p:cNvSpPr/>
            <p:nvPr/>
          </p:nvSpPr>
          <p:spPr>
            <a:xfrm>
              <a:off x="603504" y="10835640"/>
              <a:ext cx="4041648" cy="219456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5875">
              <a:solidFill>
                <a:srgbClr val="B02418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6" name="Text 137"/>
            <p:cNvSpPr/>
            <p:nvPr/>
          </p:nvSpPr>
          <p:spPr>
            <a:xfrm>
              <a:off x="749808" y="10899648"/>
              <a:ext cx="3931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700" b="1" dirty="0">
                  <a:solidFill>
                    <a:srgbClr val="B02418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Wildfire susceptibility mapping</a:t>
              </a:r>
              <a:endParaRPr lang="en-US" sz="1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7" name="Shape 138"/>
            <p:cNvSpPr/>
            <p:nvPr/>
          </p:nvSpPr>
          <p:spPr>
            <a:xfrm>
              <a:off x="786384" y="11247120"/>
              <a:ext cx="2798064" cy="14950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68" name="Image 27" descr="map_clean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95528" y="11253978"/>
              <a:ext cx="2779776" cy="1481328"/>
            </a:xfrm>
            <a:prstGeom prst="rect">
              <a:avLst/>
            </a:prstGeom>
          </p:spPr>
        </p:pic>
        <p:sp>
          <p:nvSpPr>
            <p:cNvPr id="169" name="Shape 139"/>
            <p:cNvSpPr/>
            <p:nvPr/>
          </p:nvSpPr>
          <p:spPr>
            <a:xfrm>
              <a:off x="3648456" y="11301984"/>
              <a:ext cx="182880" cy="182880"/>
            </a:xfrm>
            <a:prstGeom prst="rect">
              <a:avLst/>
            </a:prstGeom>
            <a:solidFill>
              <a:srgbClr val="267300"/>
            </a:solidFill>
            <a:ln w="635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Text 140"/>
            <p:cNvSpPr/>
            <p:nvPr/>
          </p:nvSpPr>
          <p:spPr>
            <a:xfrm>
              <a:off x="3886200" y="11265408"/>
              <a:ext cx="731520" cy="2560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Very Low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" name="Shape 141"/>
            <p:cNvSpPr/>
            <p:nvPr/>
          </p:nvSpPr>
          <p:spPr>
            <a:xfrm>
              <a:off x="3648456" y="11585448"/>
              <a:ext cx="182880" cy="182880"/>
            </a:xfrm>
            <a:prstGeom prst="rect">
              <a:avLst/>
            </a:prstGeom>
            <a:solidFill>
              <a:srgbClr val="98E500"/>
            </a:solidFill>
            <a:ln w="635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" name="Text 142"/>
            <p:cNvSpPr/>
            <p:nvPr/>
          </p:nvSpPr>
          <p:spPr>
            <a:xfrm>
              <a:off x="3886200" y="11548872"/>
              <a:ext cx="731520" cy="2560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Low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" name="Shape 143"/>
            <p:cNvSpPr/>
            <p:nvPr/>
          </p:nvSpPr>
          <p:spPr>
            <a:xfrm>
              <a:off x="3648456" y="11868912"/>
              <a:ext cx="182880" cy="18288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" name="Text 144"/>
            <p:cNvSpPr/>
            <p:nvPr/>
          </p:nvSpPr>
          <p:spPr>
            <a:xfrm>
              <a:off x="3886200" y="11832336"/>
              <a:ext cx="731520" cy="2560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Moderate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5" name="Shape 145"/>
            <p:cNvSpPr/>
            <p:nvPr/>
          </p:nvSpPr>
          <p:spPr>
            <a:xfrm>
              <a:off x="3648456" y="12152376"/>
              <a:ext cx="182880" cy="182880"/>
            </a:xfrm>
            <a:prstGeom prst="rect">
              <a:avLst/>
            </a:prstGeom>
            <a:solidFill>
              <a:srgbClr val="FFAA01"/>
            </a:solidFill>
            <a:ln w="635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Text 146"/>
            <p:cNvSpPr/>
            <p:nvPr/>
          </p:nvSpPr>
          <p:spPr>
            <a:xfrm>
              <a:off x="3886200" y="12115800"/>
              <a:ext cx="731520" cy="2560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High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" name="Shape 147"/>
            <p:cNvSpPr/>
            <p:nvPr/>
          </p:nvSpPr>
          <p:spPr>
            <a:xfrm>
              <a:off x="3648456" y="12435840"/>
              <a:ext cx="182880" cy="182880"/>
            </a:xfrm>
            <a:prstGeom prst="rect">
              <a:avLst/>
            </a:prstGeom>
            <a:solidFill>
              <a:srgbClr val="F40000"/>
            </a:solidFill>
            <a:ln w="6350">
              <a:solidFill>
                <a:srgbClr val="808080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Text 148"/>
            <p:cNvSpPr/>
            <p:nvPr/>
          </p:nvSpPr>
          <p:spPr>
            <a:xfrm>
              <a:off x="3886200" y="12399264"/>
              <a:ext cx="731520" cy="2560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Very High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Text 149"/>
            <p:cNvSpPr/>
            <p:nvPr/>
          </p:nvSpPr>
          <p:spPr>
            <a:xfrm>
              <a:off x="749808" y="12765024"/>
              <a:ext cx="39319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BiLSTM-PSO  ·  </a:t>
              </a:r>
              <a:r>
                <a:rPr lang="en-US" sz="1400" b="1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AUC = 0.92</a:t>
              </a:r>
              <a:r>
                <a:rPr lang="en-US" sz="14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 ·  1.5 km resolution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0" name="Shape 150"/>
            <p:cNvSpPr/>
            <p:nvPr/>
          </p:nvSpPr>
          <p:spPr>
            <a:xfrm>
              <a:off x="4828032" y="10835640"/>
              <a:ext cx="3035808" cy="219456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5875">
              <a:solidFill>
                <a:srgbClr val="B02418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Text 151"/>
            <p:cNvSpPr/>
            <p:nvPr/>
          </p:nvSpPr>
          <p:spPr>
            <a:xfrm>
              <a:off x="5303520" y="10858500"/>
              <a:ext cx="204825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B02418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Exposure assessment</a:t>
              </a:r>
              <a:endParaRPr lang="en-US" sz="17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2" name="Text 152"/>
            <p:cNvSpPr/>
            <p:nvPr/>
          </p:nvSpPr>
          <p:spPr>
            <a:xfrm>
              <a:off x="4968904" y="11144250"/>
              <a:ext cx="212312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5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Very High susceptibility zones</a:t>
              </a:r>
              <a:endParaRPr lang="en-US"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2942830-B082-C189-CCA7-525F75D7ACC9}"/>
                </a:ext>
              </a:extLst>
            </p:cNvPr>
            <p:cNvGrpSpPr/>
            <p:nvPr/>
          </p:nvGrpSpPr>
          <p:grpSpPr>
            <a:xfrm>
              <a:off x="6315532" y="11434572"/>
              <a:ext cx="1207008" cy="731520"/>
              <a:chOff x="5120640" y="11448288"/>
              <a:chExt cx="1207008" cy="731520"/>
            </a:xfrm>
          </p:grpSpPr>
          <p:sp>
            <p:nvSpPr>
              <p:cNvPr id="183" name="Shape 153"/>
              <p:cNvSpPr/>
              <p:nvPr/>
            </p:nvSpPr>
            <p:spPr>
              <a:xfrm>
                <a:off x="5175504" y="11448288"/>
                <a:ext cx="155448" cy="731520"/>
              </a:xfrm>
              <a:prstGeom prst="rect">
                <a:avLst/>
              </a:prstGeom>
              <a:solidFill>
                <a:srgbClr val="FF0000"/>
              </a:solidFill>
              <a:ln/>
            </p:spPr>
            <p:txBody>
              <a:bodyPr/>
              <a:lstStyle/>
              <a:p>
                <a:endParaRPr lang="en-C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4" name="Shape 154"/>
              <p:cNvSpPr/>
              <p:nvPr/>
            </p:nvSpPr>
            <p:spPr>
              <a:xfrm>
                <a:off x="5422392" y="11521440"/>
                <a:ext cx="155448" cy="658368"/>
              </a:xfrm>
              <a:prstGeom prst="rect">
                <a:avLst/>
              </a:prstGeom>
              <a:solidFill>
                <a:srgbClr val="FFC000"/>
              </a:solidFill>
              <a:ln/>
            </p:spPr>
            <p:txBody>
              <a:bodyPr/>
              <a:lstStyle/>
              <a:p>
                <a:endParaRPr lang="en-C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5" name="Shape 155"/>
              <p:cNvSpPr/>
              <p:nvPr/>
            </p:nvSpPr>
            <p:spPr>
              <a:xfrm>
                <a:off x="5669280" y="11585448"/>
                <a:ext cx="155448" cy="59436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txBody>
              <a:bodyPr/>
              <a:lstStyle/>
              <a:p>
                <a:endParaRPr lang="en-C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6" name="Shape 156"/>
              <p:cNvSpPr/>
              <p:nvPr/>
            </p:nvSpPr>
            <p:spPr>
              <a:xfrm>
                <a:off x="5916168" y="11644884"/>
                <a:ext cx="155448" cy="534924"/>
              </a:xfrm>
              <a:prstGeom prst="rect">
                <a:avLst/>
              </a:prstGeom>
              <a:solidFill>
                <a:srgbClr val="92D050"/>
              </a:solidFill>
              <a:ln/>
            </p:spPr>
            <p:txBody>
              <a:bodyPr/>
              <a:lstStyle/>
              <a:p>
                <a:endParaRPr lang="en-C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7" name="Shape 157"/>
              <p:cNvSpPr/>
              <p:nvPr/>
            </p:nvSpPr>
            <p:spPr>
              <a:xfrm>
                <a:off x="6163056" y="11699748"/>
                <a:ext cx="155448" cy="480060"/>
              </a:xfrm>
              <a:prstGeom prst="rect">
                <a:avLst/>
              </a:prstGeom>
              <a:solidFill>
                <a:srgbClr val="00B050"/>
              </a:solidFill>
              <a:ln/>
            </p:spPr>
            <p:txBody>
              <a:bodyPr/>
              <a:lstStyle/>
              <a:p>
                <a:endParaRPr lang="en-C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3" name="Shape 163"/>
              <p:cNvSpPr/>
              <p:nvPr/>
            </p:nvSpPr>
            <p:spPr>
              <a:xfrm>
                <a:off x="5120640" y="12179808"/>
                <a:ext cx="1207008" cy="0"/>
              </a:xfrm>
              <a:prstGeom prst="line">
                <a:avLst/>
              </a:prstGeom>
              <a:noFill/>
              <a:ln w="12700">
                <a:solidFill>
                  <a:srgbClr val="A6A6A6"/>
                </a:solidFill>
                <a:prstDash val="solid"/>
              </a:ln>
            </p:spPr>
            <p:txBody>
              <a:bodyPr/>
              <a:lstStyle/>
              <a:p>
                <a:endParaRPr lang="en-CA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94" name="Text 164"/>
            <p:cNvSpPr/>
            <p:nvPr/>
          </p:nvSpPr>
          <p:spPr>
            <a:xfrm>
              <a:off x="4919453" y="11411712"/>
              <a:ext cx="1252728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5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Top ten districts</a:t>
              </a:r>
              <a:endParaRPr lang="en-US"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95" name="Image 28" descr="icons/tree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118825" y="12335256"/>
              <a:ext cx="351672" cy="411480"/>
            </a:xfrm>
            <a:prstGeom prst="rect">
              <a:avLst/>
            </a:prstGeom>
          </p:spPr>
        </p:pic>
        <p:sp>
          <p:nvSpPr>
            <p:cNvPr id="196" name="Text 165"/>
            <p:cNvSpPr/>
            <p:nvPr/>
          </p:nvSpPr>
          <p:spPr>
            <a:xfrm>
              <a:off x="4791456" y="12746736"/>
              <a:ext cx="96926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Trees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97" name="Image 29" descr="icons/roa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048756" y="12276814"/>
              <a:ext cx="411480" cy="518027"/>
            </a:xfrm>
            <a:prstGeom prst="rect">
              <a:avLst/>
            </a:prstGeom>
          </p:spPr>
        </p:pic>
        <p:sp>
          <p:nvSpPr>
            <p:cNvPr id="198" name="Text 166"/>
            <p:cNvSpPr/>
            <p:nvPr/>
          </p:nvSpPr>
          <p:spPr>
            <a:xfrm>
              <a:off x="5760720" y="12742164"/>
              <a:ext cx="96926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Road network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99" name="Image 30" descr="icons/home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7108764" y="12276814"/>
              <a:ext cx="467735" cy="488210"/>
            </a:xfrm>
            <a:prstGeom prst="rect">
              <a:avLst/>
            </a:prstGeom>
          </p:spPr>
        </p:pic>
        <p:sp>
          <p:nvSpPr>
            <p:cNvPr id="200" name="Text 167"/>
            <p:cNvSpPr/>
            <p:nvPr/>
          </p:nvSpPr>
          <p:spPr>
            <a:xfrm>
              <a:off x="6867144" y="12746736"/>
              <a:ext cx="969264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Households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1" name="Shape 168"/>
            <p:cNvSpPr/>
            <p:nvPr/>
          </p:nvSpPr>
          <p:spPr>
            <a:xfrm>
              <a:off x="8046720" y="10835640"/>
              <a:ext cx="2414016" cy="2194560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15875">
              <a:solidFill>
                <a:srgbClr val="B02418"/>
              </a:solidFill>
              <a:prstDash val="solid"/>
            </a:ln>
          </p:spPr>
          <p:txBody>
            <a:bodyPr/>
            <a:lstStyle/>
            <a:p>
              <a:endParaRPr lang="en-CA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02" name="Image 31" descr="icons/globe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963259" y="10858500"/>
              <a:ext cx="636257" cy="576072"/>
            </a:xfrm>
            <a:prstGeom prst="rect">
              <a:avLst/>
            </a:prstGeom>
          </p:spPr>
        </p:pic>
        <p:sp>
          <p:nvSpPr>
            <p:cNvPr id="203" name="Text 169"/>
            <p:cNvSpPr/>
            <p:nvPr/>
          </p:nvSpPr>
          <p:spPr>
            <a:xfrm>
              <a:off x="8165820" y="11434572"/>
              <a:ext cx="2231136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650" b="1" dirty="0">
                  <a:solidFill>
                    <a:srgbClr val="B02418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Cross-border consistency</a:t>
              </a:r>
              <a:endParaRPr lang="en-US" sz="16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4" name="Text 170"/>
            <p:cNvSpPr/>
            <p:nvPr/>
          </p:nvSpPr>
          <p:spPr>
            <a:xfrm>
              <a:off x="8156448" y="11942064"/>
              <a:ext cx="2194560" cy="10241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ct val="96000"/>
                </a:lnSpc>
                <a:spcAft>
                  <a:spcPts val="700"/>
                </a:spcAft>
                <a:buNone/>
              </a:pPr>
              <a:r>
                <a:rPr lang="en-US" sz="135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Comparison with U.S. FSim estimates</a:t>
              </a:r>
              <a:endParaRPr lang="en-US"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indent="0" algn="ctr">
                <a:lnSpc>
                  <a:spcPct val="96000"/>
                </a:lnSpc>
                <a:spcAft>
                  <a:spcPts val="700"/>
                </a:spcAft>
                <a:buNone/>
              </a:pPr>
              <a:r>
                <a:rPr lang="en-US" sz="1350" dirty="0">
                  <a:solidFill>
                    <a:srgbClr val="262626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Consistent high-susceptibility patterns across the border</a:t>
              </a:r>
              <a:endParaRPr lang="en-US" sz="13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07" name="Picture 206">
              <a:extLst>
                <a:ext uri="{FF2B5EF4-FFF2-40B4-BE49-F238E27FC236}">
                  <a16:creationId xmlns:a16="http://schemas.microsoft.com/office/drawing/2014/main" id="{46BB4A9F-9D7A-D160-60B4-0659FA5D4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765107" y="1462126"/>
              <a:ext cx="739384" cy="862545"/>
            </a:xfrm>
            <a:prstGeom prst="rect">
              <a:avLst/>
            </a:prstGeom>
          </p:spPr>
        </p:pic>
        <p:pic>
          <p:nvPicPr>
            <p:cNvPr id="209" name="Picture 208">
              <a:extLst>
                <a:ext uri="{FF2B5EF4-FFF2-40B4-BE49-F238E27FC236}">
                  <a16:creationId xmlns:a16="http://schemas.microsoft.com/office/drawing/2014/main" id="{3245FB72-2476-27E2-2F5C-3205233EE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5356569" y="1514745"/>
              <a:ext cx="1011587" cy="820483"/>
            </a:xfrm>
            <a:prstGeom prst="rect">
              <a:avLst/>
            </a:prstGeom>
          </p:spPr>
        </p:pic>
        <p:pic>
          <p:nvPicPr>
            <p:cNvPr id="213" name="Picture 212">
              <a:extLst>
                <a:ext uri="{FF2B5EF4-FFF2-40B4-BE49-F238E27FC236}">
                  <a16:creationId xmlns:a16="http://schemas.microsoft.com/office/drawing/2014/main" id="{E16FE93F-1CA5-2612-6078-CACBBAFF3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8086546" y="1530139"/>
              <a:ext cx="793889" cy="716193"/>
            </a:xfrm>
            <a:prstGeom prst="rect">
              <a:avLst/>
            </a:prstGeom>
          </p:spPr>
        </p:pic>
        <p:pic>
          <p:nvPicPr>
            <p:cNvPr id="215" name="Picture 214">
              <a:extLst>
                <a:ext uri="{FF2B5EF4-FFF2-40B4-BE49-F238E27FC236}">
                  <a16:creationId xmlns:a16="http://schemas.microsoft.com/office/drawing/2014/main" id="{81BFD701-C23C-214F-5600-CD5290251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10772776" y="1535416"/>
              <a:ext cx="702944" cy="685800"/>
            </a:xfrm>
            <a:prstGeom prst="rect">
              <a:avLst/>
            </a:prstGeom>
          </p:spPr>
        </p:pic>
        <p:pic>
          <p:nvPicPr>
            <p:cNvPr id="217" name="Picture 216">
              <a:extLst>
                <a:ext uri="{FF2B5EF4-FFF2-40B4-BE49-F238E27FC236}">
                  <a16:creationId xmlns:a16="http://schemas.microsoft.com/office/drawing/2014/main" id="{07F26F3D-3EFB-C9E2-8F2F-E58C88E0D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13164385" y="1475617"/>
              <a:ext cx="1322470" cy="794532"/>
            </a:xfrm>
            <a:prstGeom prst="rect">
              <a:avLst/>
            </a:prstGeom>
          </p:spPr>
        </p:pic>
        <p:pic>
          <p:nvPicPr>
            <p:cNvPr id="228" name="Picture 227">
              <a:extLst>
                <a:ext uri="{FF2B5EF4-FFF2-40B4-BE49-F238E27FC236}">
                  <a16:creationId xmlns:a16="http://schemas.microsoft.com/office/drawing/2014/main" id="{4DF31A17-94FF-CC28-5936-C6C9BEA79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7364120" y="3713847"/>
              <a:ext cx="772668" cy="734496"/>
            </a:xfrm>
            <a:prstGeom prst="rect">
              <a:avLst/>
            </a:prstGeom>
          </p:spPr>
        </p:pic>
        <p:pic>
          <p:nvPicPr>
            <p:cNvPr id="230" name="Picture 229">
              <a:extLst>
                <a:ext uri="{FF2B5EF4-FFF2-40B4-BE49-F238E27FC236}">
                  <a16:creationId xmlns:a16="http://schemas.microsoft.com/office/drawing/2014/main" id="{94B13746-EAAA-A01C-58E3-01BB02216C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182165" y="3549998"/>
              <a:ext cx="1064530" cy="1056451"/>
            </a:xfrm>
            <a:prstGeom prst="rect">
              <a:avLst/>
            </a:prstGeom>
          </p:spPr>
        </p:pic>
        <p:pic>
          <p:nvPicPr>
            <p:cNvPr id="232" name="Picture 231">
              <a:extLst>
                <a:ext uri="{FF2B5EF4-FFF2-40B4-BE49-F238E27FC236}">
                  <a16:creationId xmlns:a16="http://schemas.microsoft.com/office/drawing/2014/main" id="{8D77C354-EC69-59A4-8B5F-0E8E6DF98A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3256463" y="3627882"/>
              <a:ext cx="868679" cy="900684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4B19720-94AA-6C8A-884A-AB75F1F3C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658368" y="3801565"/>
              <a:ext cx="1047674" cy="1101958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0D713F8D-8770-4408-C073-342A14D80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2666797" y="3675887"/>
              <a:ext cx="1027379" cy="1362457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CEB93723-8A3B-CC94-11A1-35E8CDCB5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4681728" y="3660583"/>
              <a:ext cx="1295248" cy="1361387"/>
            </a:xfrm>
            <a:prstGeom prst="rect">
              <a:avLst/>
            </a:prstGeom>
          </p:spPr>
        </p:pic>
        <p:sp>
          <p:nvSpPr>
            <p:cNvPr id="60" name="Arrow: Down 59">
              <a:extLst>
                <a:ext uri="{FF2B5EF4-FFF2-40B4-BE49-F238E27FC236}">
                  <a16:creationId xmlns:a16="http://schemas.microsoft.com/office/drawing/2014/main" id="{DF9AF346-41A3-7736-1597-96D9D5F96651}"/>
                </a:ext>
              </a:extLst>
            </p:cNvPr>
            <p:cNvSpPr/>
            <p:nvPr/>
          </p:nvSpPr>
          <p:spPr>
            <a:xfrm>
              <a:off x="3448484" y="2953512"/>
              <a:ext cx="288262" cy="338328"/>
            </a:xfrm>
            <a:prstGeom prst="down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4" name="Arrow: Down 63">
              <a:extLst>
                <a:ext uri="{FF2B5EF4-FFF2-40B4-BE49-F238E27FC236}">
                  <a16:creationId xmlns:a16="http://schemas.microsoft.com/office/drawing/2014/main" id="{17189EF9-DF1B-5C94-648D-0DBE5224B681}"/>
                </a:ext>
              </a:extLst>
            </p:cNvPr>
            <p:cNvSpPr/>
            <p:nvPr/>
          </p:nvSpPr>
          <p:spPr>
            <a:xfrm>
              <a:off x="11440311" y="2944368"/>
              <a:ext cx="288262" cy="338328"/>
            </a:xfrm>
            <a:prstGeom prst="down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73" name="Arrow: Down 72">
              <a:extLst>
                <a:ext uri="{FF2B5EF4-FFF2-40B4-BE49-F238E27FC236}">
                  <a16:creationId xmlns:a16="http://schemas.microsoft.com/office/drawing/2014/main" id="{9CB4B85C-3736-2F23-6720-511D8C8B7BA3}"/>
                </a:ext>
              </a:extLst>
            </p:cNvPr>
            <p:cNvSpPr/>
            <p:nvPr/>
          </p:nvSpPr>
          <p:spPr>
            <a:xfrm>
              <a:off x="8505866" y="4992624"/>
              <a:ext cx="288262" cy="274320"/>
            </a:xfrm>
            <a:prstGeom prst="downArrow">
              <a:avLst/>
            </a:prstGeom>
            <a:solidFill>
              <a:srgbClr val="00696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06" name="Arrow: Down 205">
              <a:extLst>
                <a:ext uri="{FF2B5EF4-FFF2-40B4-BE49-F238E27FC236}">
                  <a16:creationId xmlns:a16="http://schemas.microsoft.com/office/drawing/2014/main" id="{65A75AC3-3392-664E-C21E-83024AB85826}"/>
                </a:ext>
              </a:extLst>
            </p:cNvPr>
            <p:cNvSpPr/>
            <p:nvPr/>
          </p:nvSpPr>
          <p:spPr>
            <a:xfrm>
              <a:off x="11441317" y="5007864"/>
              <a:ext cx="288262" cy="259080"/>
            </a:xfrm>
            <a:prstGeom prst="downArrow">
              <a:avLst/>
            </a:prstGeom>
            <a:solidFill>
              <a:srgbClr val="00696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0" name="Arrow: Down 209">
              <a:extLst>
                <a:ext uri="{FF2B5EF4-FFF2-40B4-BE49-F238E27FC236}">
                  <a16:creationId xmlns:a16="http://schemas.microsoft.com/office/drawing/2014/main" id="{0A0C9435-1D1A-52CC-9CDE-B0FA8AC42A86}"/>
                </a:ext>
              </a:extLst>
            </p:cNvPr>
            <p:cNvSpPr/>
            <p:nvPr/>
          </p:nvSpPr>
          <p:spPr>
            <a:xfrm>
              <a:off x="14337792" y="5007863"/>
              <a:ext cx="288262" cy="251129"/>
            </a:xfrm>
            <a:prstGeom prst="downArrow">
              <a:avLst/>
            </a:prstGeom>
            <a:solidFill>
              <a:srgbClr val="00696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2" name="Arrow: Down 211">
              <a:extLst>
                <a:ext uri="{FF2B5EF4-FFF2-40B4-BE49-F238E27FC236}">
                  <a16:creationId xmlns:a16="http://schemas.microsoft.com/office/drawing/2014/main" id="{9F77BC7B-EADE-DDB8-A2F6-68CABDAE8557}"/>
                </a:ext>
              </a:extLst>
            </p:cNvPr>
            <p:cNvSpPr/>
            <p:nvPr/>
          </p:nvSpPr>
          <p:spPr>
            <a:xfrm>
              <a:off x="8520988" y="5868858"/>
              <a:ext cx="288262" cy="274320"/>
            </a:xfrm>
            <a:prstGeom prst="downArrow">
              <a:avLst/>
            </a:prstGeom>
            <a:solidFill>
              <a:srgbClr val="00696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6" name="Arrow: Down 215">
              <a:extLst>
                <a:ext uri="{FF2B5EF4-FFF2-40B4-BE49-F238E27FC236}">
                  <a16:creationId xmlns:a16="http://schemas.microsoft.com/office/drawing/2014/main" id="{D0521CDA-B759-F2D0-D650-624914BE504B}"/>
                </a:ext>
              </a:extLst>
            </p:cNvPr>
            <p:cNvSpPr/>
            <p:nvPr/>
          </p:nvSpPr>
          <p:spPr>
            <a:xfrm>
              <a:off x="11440296" y="5907024"/>
              <a:ext cx="288262" cy="274320"/>
            </a:xfrm>
            <a:prstGeom prst="downArrow">
              <a:avLst/>
            </a:prstGeom>
            <a:solidFill>
              <a:srgbClr val="00696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19" name="Arrow: Down 218">
              <a:extLst>
                <a:ext uri="{FF2B5EF4-FFF2-40B4-BE49-F238E27FC236}">
                  <a16:creationId xmlns:a16="http://schemas.microsoft.com/office/drawing/2014/main" id="{BD7C3B6B-8864-053D-53E9-1235CEDCE8D7}"/>
                </a:ext>
              </a:extLst>
            </p:cNvPr>
            <p:cNvSpPr/>
            <p:nvPr/>
          </p:nvSpPr>
          <p:spPr>
            <a:xfrm>
              <a:off x="14343126" y="5870448"/>
              <a:ext cx="288262" cy="274320"/>
            </a:xfrm>
            <a:prstGeom prst="downArrow">
              <a:avLst/>
            </a:prstGeom>
            <a:solidFill>
              <a:srgbClr val="00696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2" name="Arrow: Down 221">
              <a:extLst>
                <a:ext uri="{FF2B5EF4-FFF2-40B4-BE49-F238E27FC236}">
                  <a16:creationId xmlns:a16="http://schemas.microsoft.com/office/drawing/2014/main" id="{17DC699A-A1EB-C56B-0416-CAC5D9ADD26C}"/>
                </a:ext>
              </a:extLst>
            </p:cNvPr>
            <p:cNvSpPr/>
            <p:nvPr/>
          </p:nvSpPr>
          <p:spPr>
            <a:xfrm>
              <a:off x="3315084" y="7530084"/>
              <a:ext cx="288262" cy="338328"/>
            </a:xfrm>
            <a:prstGeom prst="downArrow">
              <a:avLst/>
            </a:prstGeom>
            <a:solidFill>
              <a:srgbClr val="3A7D4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26" name="Arrow: Down 225">
              <a:extLst>
                <a:ext uri="{FF2B5EF4-FFF2-40B4-BE49-F238E27FC236}">
                  <a16:creationId xmlns:a16="http://schemas.microsoft.com/office/drawing/2014/main" id="{E3A8551F-BB0C-D01F-74F8-5AA96A1E7C16}"/>
                </a:ext>
              </a:extLst>
            </p:cNvPr>
            <p:cNvSpPr/>
            <p:nvPr/>
          </p:nvSpPr>
          <p:spPr>
            <a:xfrm>
              <a:off x="5832845" y="7685532"/>
              <a:ext cx="288262" cy="182880"/>
            </a:xfrm>
            <a:prstGeom prst="downArrow">
              <a:avLst/>
            </a:prstGeom>
            <a:solidFill>
              <a:srgbClr val="00696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229" name="Connector: Elbow 228">
              <a:extLst>
                <a:ext uri="{FF2B5EF4-FFF2-40B4-BE49-F238E27FC236}">
                  <a16:creationId xmlns:a16="http://schemas.microsoft.com/office/drawing/2014/main" id="{813A0345-24B1-B1DD-7FDF-986AEE0BA1F3}"/>
                </a:ext>
              </a:extLst>
            </p:cNvPr>
            <p:cNvCxnSpPr>
              <a:cxnSpLocks/>
              <a:endCxn id="70" idx="2"/>
            </p:cNvCxnSpPr>
            <p:nvPr/>
          </p:nvCxnSpPr>
          <p:spPr>
            <a:xfrm flipV="1">
              <a:off x="5903692" y="7507224"/>
              <a:ext cx="5663468" cy="142748"/>
            </a:xfrm>
            <a:prstGeom prst="bentConnector2">
              <a:avLst/>
            </a:prstGeom>
            <a:ln w="136525">
              <a:solidFill>
                <a:srgbClr val="00696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Arrow: Right 234">
              <a:extLst>
                <a:ext uri="{FF2B5EF4-FFF2-40B4-BE49-F238E27FC236}">
                  <a16:creationId xmlns:a16="http://schemas.microsoft.com/office/drawing/2014/main" id="{E8852AD9-A4EC-BB27-836E-4A01926CB855}"/>
                </a:ext>
              </a:extLst>
            </p:cNvPr>
            <p:cNvSpPr/>
            <p:nvPr/>
          </p:nvSpPr>
          <p:spPr>
            <a:xfrm>
              <a:off x="1865376" y="8878824"/>
              <a:ext cx="310896" cy="283701"/>
            </a:xfrm>
            <a:prstGeom prst="rightArrow">
              <a:avLst/>
            </a:prstGeom>
            <a:solidFill>
              <a:srgbClr val="6A4FA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37" name="Arrow: Right 236">
              <a:extLst>
                <a:ext uri="{FF2B5EF4-FFF2-40B4-BE49-F238E27FC236}">
                  <a16:creationId xmlns:a16="http://schemas.microsoft.com/office/drawing/2014/main" id="{1C40EBB0-2156-9C91-DFAB-0FC8873BD046}"/>
                </a:ext>
              </a:extLst>
            </p:cNvPr>
            <p:cNvSpPr/>
            <p:nvPr/>
          </p:nvSpPr>
          <p:spPr>
            <a:xfrm>
              <a:off x="3383280" y="8878824"/>
              <a:ext cx="310896" cy="283701"/>
            </a:xfrm>
            <a:prstGeom prst="rightArrow">
              <a:avLst/>
            </a:prstGeom>
            <a:solidFill>
              <a:srgbClr val="6A4FA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39" name="Arrow: Right 238">
              <a:extLst>
                <a:ext uri="{FF2B5EF4-FFF2-40B4-BE49-F238E27FC236}">
                  <a16:creationId xmlns:a16="http://schemas.microsoft.com/office/drawing/2014/main" id="{D0298ED7-DFA7-69D4-B062-DD9228E7ADB2}"/>
                </a:ext>
              </a:extLst>
            </p:cNvPr>
            <p:cNvSpPr/>
            <p:nvPr/>
          </p:nvSpPr>
          <p:spPr>
            <a:xfrm>
              <a:off x="4911414" y="8878824"/>
              <a:ext cx="310896" cy="283701"/>
            </a:xfrm>
            <a:prstGeom prst="rightArrow">
              <a:avLst/>
            </a:prstGeom>
            <a:solidFill>
              <a:srgbClr val="6A4FA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41" name="Arrow: Right 240">
              <a:extLst>
                <a:ext uri="{FF2B5EF4-FFF2-40B4-BE49-F238E27FC236}">
                  <a16:creationId xmlns:a16="http://schemas.microsoft.com/office/drawing/2014/main" id="{24E4B425-3ECE-2EA2-FAED-D6A0F7E3F4C5}"/>
                </a:ext>
              </a:extLst>
            </p:cNvPr>
            <p:cNvSpPr/>
            <p:nvPr/>
          </p:nvSpPr>
          <p:spPr>
            <a:xfrm>
              <a:off x="6676520" y="8864870"/>
              <a:ext cx="343099" cy="283701"/>
            </a:xfrm>
            <a:prstGeom prst="rightArrow">
              <a:avLst/>
            </a:prstGeom>
            <a:solidFill>
              <a:srgbClr val="6A4FA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43" name="Arrow: Right 242">
              <a:extLst>
                <a:ext uri="{FF2B5EF4-FFF2-40B4-BE49-F238E27FC236}">
                  <a16:creationId xmlns:a16="http://schemas.microsoft.com/office/drawing/2014/main" id="{275BE6B1-2055-D0B1-3A87-9BCA75BB29BF}"/>
                </a:ext>
              </a:extLst>
            </p:cNvPr>
            <p:cNvSpPr/>
            <p:nvPr/>
          </p:nvSpPr>
          <p:spPr>
            <a:xfrm>
              <a:off x="8833104" y="8871146"/>
              <a:ext cx="310896" cy="283701"/>
            </a:xfrm>
            <a:prstGeom prst="rightArrow">
              <a:avLst/>
            </a:prstGeom>
            <a:solidFill>
              <a:srgbClr val="C6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45" name="Arrow: Right 244">
              <a:extLst>
                <a:ext uri="{FF2B5EF4-FFF2-40B4-BE49-F238E27FC236}">
                  <a16:creationId xmlns:a16="http://schemas.microsoft.com/office/drawing/2014/main" id="{C5A94A86-8B1F-B491-2C79-340CF4114CD6}"/>
                </a:ext>
              </a:extLst>
            </p:cNvPr>
            <p:cNvSpPr/>
            <p:nvPr/>
          </p:nvSpPr>
          <p:spPr>
            <a:xfrm>
              <a:off x="10567283" y="8864870"/>
              <a:ext cx="310896" cy="283701"/>
            </a:xfrm>
            <a:prstGeom prst="rightArrow">
              <a:avLst/>
            </a:prstGeom>
            <a:solidFill>
              <a:srgbClr val="C6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47" name="Arrow: Right 246">
              <a:extLst>
                <a:ext uri="{FF2B5EF4-FFF2-40B4-BE49-F238E27FC236}">
                  <a16:creationId xmlns:a16="http://schemas.microsoft.com/office/drawing/2014/main" id="{60EBB87B-BF15-274C-E561-1EF850C5BBC4}"/>
                </a:ext>
              </a:extLst>
            </p:cNvPr>
            <p:cNvSpPr/>
            <p:nvPr/>
          </p:nvSpPr>
          <p:spPr>
            <a:xfrm>
              <a:off x="12307824" y="8864870"/>
              <a:ext cx="310896" cy="283701"/>
            </a:xfrm>
            <a:prstGeom prst="rightArrow">
              <a:avLst/>
            </a:prstGeom>
            <a:solidFill>
              <a:srgbClr val="C6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49" name="Arrow: Right 248">
              <a:extLst>
                <a:ext uri="{FF2B5EF4-FFF2-40B4-BE49-F238E27FC236}">
                  <a16:creationId xmlns:a16="http://schemas.microsoft.com/office/drawing/2014/main" id="{47D529FD-4861-918A-5665-7AFC43E61461}"/>
                </a:ext>
              </a:extLst>
            </p:cNvPr>
            <p:cNvSpPr/>
            <p:nvPr/>
          </p:nvSpPr>
          <p:spPr>
            <a:xfrm>
              <a:off x="14045184" y="8857293"/>
              <a:ext cx="310896" cy="283701"/>
            </a:xfrm>
            <a:prstGeom prst="rightArrow">
              <a:avLst/>
            </a:prstGeom>
            <a:solidFill>
              <a:srgbClr val="C6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251" name="Arrow: Down 250">
              <a:extLst>
                <a:ext uri="{FF2B5EF4-FFF2-40B4-BE49-F238E27FC236}">
                  <a16:creationId xmlns:a16="http://schemas.microsoft.com/office/drawing/2014/main" id="{303589E9-7143-97E4-CD0A-A1C0D59C9D05}"/>
                </a:ext>
              </a:extLst>
            </p:cNvPr>
            <p:cNvSpPr/>
            <p:nvPr/>
          </p:nvSpPr>
          <p:spPr>
            <a:xfrm>
              <a:off x="13356985" y="9802368"/>
              <a:ext cx="288262" cy="338328"/>
            </a:xfrm>
            <a:prstGeom prst="downArrow">
              <a:avLst/>
            </a:prstGeom>
            <a:solidFill>
              <a:srgbClr val="C6591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252" name="Arrow: Left 251">
              <a:extLst>
                <a:ext uri="{FF2B5EF4-FFF2-40B4-BE49-F238E27FC236}">
                  <a16:creationId xmlns:a16="http://schemas.microsoft.com/office/drawing/2014/main" id="{6C68C6DB-3B08-E14D-5F74-45290C808655}"/>
                </a:ext>
              </a:extLst>
            </p:cNvPr>
            <p:cNvSpPr/>
            <p:nvPr/>
          </p:nvSpPr>
          <p:spPr>
            <a:xfrm>
              <a:off x="10634473" y="11521440"/>
              <a:ext cx="427112" cy="258982"/>
            </a:xfrm>
            <a:prstGeom prst="leftArrow">
              <a:avLst/>
            </a:prstGeom>
            <a:solidFill>
              <a:srgbClr val="2F559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2211</TotalTime>
  <Words>327</Words>
  <Application>Microsoft PowerPoint</Application>
  <PresentationFormat>Custom</PresentationFormat>
  <Paragraphs>93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2 - Wildfire susceptibility workflow</dc:title>
  <dc:subject>PptxGenJS Presentation</dc:subject>
  <dc:creator>Saad Khan</dc:creator>
  <cp:lastModifiedBy>Saad Khan</cp:lastModifiedBy>
  <cp:revision>26</cp:revision>
  <dcterms:created xsi:type="dcterms:W3CDTF">2026-07-28T05:26:49Z</dcterms:created>
  <dcterms:modified xsi:type="dcterms:W3CDTF">2026-08-10T04:23:48Z</dcterms:modified>
</cp:coreProperties>
</file>