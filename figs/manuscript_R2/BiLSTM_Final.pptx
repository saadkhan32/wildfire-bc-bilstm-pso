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8E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64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D666182-AD98-11BC-1E06-EBCA1AA6725C}"/>
              </a:ext>
            </a:extLst>
          </p:cNvPr>
          <p:cNvGrpSpPr/>
          <p:nvPr/>
        </p:nvGrpSpPr>
        <p:grpSpPr>
          <a:xfrm>
            <a:off x="411480" y="524698"/>
            <a:ext cx="8613648" cy="6241862"/>
            <a:chOff x="411480" y="524698"/>
            <a:chExt cx="8613648" cy="6241862"/>
          </a:xfrm>
        </p:grpSpPr>
        <p:sp>
          <p:nvSpPr>
            <p:cNvPr id="2" name="Shape 0"/>
            <p:cNvSpPr/>
            <p:nvPr/>
          </p:nvSpPr>
          <p:spPr>
            <a:xfrm>
              <a:off x="411480" y="854242"/>
              <a:ext cx="8321040" cy="5153366"/>
            </a:xfrm>
            <a:prstGeom prst="roundRect">
              <a:avLst>
                <a:gd name="adj" fmla="val 4580"/>
              </a:avLst>
            </a:prstGeom>
            <a:solidFill>
              <a:srgbClr val="F7F8FA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n-CA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840480" y="537570"/>
              <a:ext cx="1463040" cy="457200"/>
            </a:xfrm>
            <a:prstGeom prst="roundRect">
              <a:avLst>
                <a:gd name="adj" fmla="val 16000"/>
              </a:avLst>
            </a:prstGeom>
            <a:solidFill>
              <a:srgbClr val="DEEBF7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 2"/>
            <p:cNvSpPr/>
            <p:nvPr/>
          </p:nvSpPr>
          <p:spPr>
            <a:xfrm>
              <a:off x="3840480" y="524698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BiLSTM</a:t>
              </a:r>
              <a:endParaRPr lang="en-US" sz="20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2167128" y="1115568"/>
              <a:ext cx="5449821" cy="731520"/>
            </a:xfrm>
            <a:prstGeom prst="roundRect">
              <a:avLst>
                <a:gd name="adj" fmla="val 18750"/>
              </a:avLst>
            </a:prstGeom>
            <a:ln w="19050">
              <a:solidFill>
                <a:srgbClr val="8497B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Shape 4"/>
            <p:cNvSpPr/>
            <p:nvPr/>
          </p:nvSpPr>
          <p:spPr>
            <a:xfrm>
              <a:off x="1965960" y="2944368"/>
              <a:ext cx="6035040" cy="777240"/>
            </a:xfrm>
            <a:prstGeom prst="roundRect">
              <a:avLst>
                <a:gd name="adj" fmla="val 17647"/>
              </a:avLst>
            </a:prstGeom>
            <a:ln w="19050">
              <a:solidFill>
                <a:srgbClr val="D6B656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Shape 5"/>
            <p:cNvSpPr/>
            <p:nvPr/>
          </p:nvSpPr>
          <p:spPr>
            <a:xfrm>
              <a:off x="1965960" y="3877056"/>
              <a:ext cx="6035040" cy="777240"/>
            </a:xfrm>
            <a:prstGeom prst="roundRect">
              <a:avLst>
                <a:gd name="adj" fmla="val 17647"/>
              </a:avLst>
            </a:prstGeom>
            <a:ln w="19050">
              <a:solidFill>
                <a:srgbClr val="82A87C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Shape 6"/>
            <p:cNvSpPr/>
            <p:nvPr/>
          </p:nvSpPr>
          <p:spPr>
            <a:xfrm>
              <a:off x="2103120" y="5138928"/>
              <a:ext cx="5669280" cy="777240"/>
            </a:xfrm>
            <a:prstGeom prst="roundRect">
              <a:avLst>
                <a:gd name="adj" fmla="val 17647"/>
              </a:avLst>
            </a:prstGeom>
            <a:ln w="19050">
              <a:solidFill>
                <a:srgbClr val="7F9EC1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Shape 7"/>
            <p:cNvSpPr/>
            <p:nvPr/>
          </p:nvSpPr>
          <p:spPr>
            <a:xfrm>
              <a:off x="2167128" y="2148840"/>
              <a:ext cx="1700784" cy="2578608"/>
            </a:xfrm>
            <a:prstGeom prst="roundRect">
              <a:avLst>
                <a:gd name="adj" fmla="val 8065"/>
              </a:avLst>
            </a:prstGeom>
            <a:ln w="19050">
              <a:solidFill>
                <a:srgbClr val="8497B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Shape 8"/>
            <p:cNvSpPr/>
            <p:nvPr/>
          </p:nvSpPr>
          <p:spPr>
            <a:xfrm>
              <a:off x="4041648" y="2148840"/>
              <a:ext cx="1700784" cy="2578608"/>
            </a:xfrm>
            <a:prstGeom prst="roundRect">
              <a:avLst>
                <a:gd name="adj" fmla="val 8065"/>
              </a:avLst>
            </a:prstGeom>
            <a:ln w="19050">
              <a:solidFill>
                <a:srgbClr val="8497B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Shape 9"/>
            <p:cNvSpPr/>
            <p:nvPr/>
          </p:nvSpPr>
          <p:spPr>
            <a:xfrm>
              <a:off x="5916168" y="2148840"/>
              <a:ext cx="1700784" cy="2578608"/>
            </a:xfrm>
            <a:prstGeom prst="roundRect">
              <a:avLst>
                <a:gd name="adj" fmla="val 8065"/>
              </a:avLst>
            </a:prstGeom>
            <a:ln w="19050">
              <a:solidFill>
                <a:srgbClr val="8497B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 10"/>
            <p:cNvSpPr/>
            <p:nvPr/>
          </p:nvSpPr>
          <p:spPr>
            <a:xfrm>
              <a:off x="566928" y="1353312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i="1" dirty="0">
                  <a:solidFill>
                    <a:srgbClr val="44546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output layer</a:t>
              </a:r>
              <a:endParaRPr lang="en-US" sz="13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66928" y="320040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i="1" dirty="0">
                  <a:solidFill>
                    <a:srgbClr val="8B7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forward layer</a:t>
              </a:r>
              <a:endParaRPr lang="en-US" sz="13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02920" y="4133088"/>
              <a:ext cx="1600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i="1" dirty="0">
                  <a:solidFill>
                    <a:srgbClr val="4E7A3C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backward layer</a:t>
              </a:r>
              <a:endParaRPr lang="en-US" sz="13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58368" y="5394960"/>
              <a:ext cx="1371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i="1" dirty="0">
                  <a:solidFill>
                    <a:srgbClr val="1F4E7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input layer</a:t>
              </a:r>
              <a:endParaRPr lang="en-US" sz="13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783080" y="3332988"/>
              <a:ext cx="530352" cy="0"/>
            </a:xfrm>
            <a:prstGeom prst="line">
              <a:avLst/>
            </a:prstGeom>
            <a:noFill/>
            <a:ln w="34925">
              <a:solidFill>
                <a:srgbClr val="C9A22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Shape 15"/>
            <p:cNvSpPr/>
            <p:nvPr/>
          </p:nvSpPr>
          <p:spPr>
            <a:xfrm>
              <a:off x="3703320" y="3332988"/>
              <a:ext cx="484632" cy="0"/>
            </a:xfrm>
            <a:prstGeom prst="line">
              <a:avLst/>
            </a:prstGeom>
            <a:noFill/>
            <a:ln w="34925">
              <a:solidFill>
                <a:srgbClr val="C9A22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Shape 16"/>
            <p:cNvSpPr/>
            <p:nvPr/>
          </p:nvSpPr>
          <p:spPr>
            <a:xfrm>
              <a:off x="5577840" y="3332988"/>
              <a:ext cx="484632" cy="0"/>
            </a:xfrm>
            <a:prstGeom prst="line">
              <a:avLst/>
            </a:prstGeom>
            <a:noFill/>
            <a:ln w="34925">
              <a:solidFill>
                <a:srgbClr val="C9A22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Shape 17"/>
            <p:cNvSpPr/>
            <p:nvPr/>
          </p:nvSpPr>
          <p:spPr>
            <a:xfrm>
              <a:off x="7452360" y="3332988"/>
              <a:ext cx="521208" cy="0"/>
            </a:xfrm>
            <a:prstGeom prst="line">
              <a:avLst/>
            </a:prstGeom>
            <a:noFill/>
            <a:ln w="34925">
              <a:solidFill>
                <a:srgbClr val="C9A22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0" name="Text 18"/>
            <p:cNvSpPr/>
            <p:nvPr/>
          </p:nvSpPr>
          <p:spPr>
            <a:xfrm>
              <a:off x="1641348" y="2978056"/>
              <a:ext cx="28346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i="1" dirty="0">
                  <a:solidFill>
                    <a:srgbClr val="8B7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</a:t>
              </a:r>
              <a:r>
                <a:rPr lang="en-US" sz="1500" b="1" i="1" baseline="-40000" dirty="0">
                  <a:solidFill>
                    <a:srgbClr val="8B7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</a:t>
              </a:r>
              <a:endParaRPr lang="en-US" sz="15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470648" y="4265676"/>
              <a:ext cx="502920" cy="0"/>
            </a:xfrm>
            <a:prstGeom prst="line">
              <a:avLst/>
            </a:prstGeom>
            <a:noFill/>
            <a:ln w="34925">
              <a:solidFill>
                <a:srgbClr val="6FAF46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Shape 20"/>
            <p:cNvSpPr/>
            <p:nvPr/>
          </p:nvSpPr>
          <p:spPr>
            <a:xfrm>
              <a:off x="5596128" y="4265676"/>
              <a:ext cx="484632" cy="0"/>
            </a:xfrm>
            <a:prstGeom prst="line">
              <a:avLst/>
            </a:prstGeom>
            <a:noFill/>
            <a:ln w="34925">
              <a:solidFill>
                <a:srgbClr val="6FAF46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Shape 21"/>
            <p:cNvSpPr/>
            <p:nvPr/>
          </p:nvSpPr>
          <p:spPr>
            <a:xfrm>
              <a:off x="3721608" y="4265676"/>
              <a:ext cx="484632" cy="0"/>
            </a:xfrm>
            <a:prstGeom prst="line">
              <a:avLst/>
            </a:prstGeom>
            <a:noFill/>
            <a:ln w="34925">
              <a:solidFill>
                <a:srgbClr val="6FAF46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Shape 22"/>
            <p:cNvSpPr/>
            <p:nvPr/>
          </p:nvSpPr>
          <p:spPr>
            <a:xfrm>
              <a:off x="1783080" y="4265676"/>
              <a:ext cx="548640" cy="0"/>
            </a:xfrm>
            <a:prstGeom prst="line">
              <a:avLst/>
            </a:prstGeom>
            <a:noFill/>
            <a:ln w="34925">
              <a:solidFill>
                <a:srgbClr val="6FAF46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Text 23"/>
            <p:cNvSpPr/>
            <p:nvPr/>
          </p:nvSpPr>
          <p:spPr>
            <a:xfrm>
              <a:off x="1641348" y="3908338"/>
              <a:ext cx="30680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i="1" dirty="0">
                  <a:solidFill>
                    <a:srgbClr val="4E7A3C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</a:t>
              </a:r>
              <a:r>
                <a:rPr lang="en-US" sz="1500" b="1" i="1" baseline="-40000" dirty="0">
                  <a:solidFill>
                    <a:srgbClr val="4E7A3C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</a:t>
              </a:r>
              <a:endParaRPr lang="en-US" sz="15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017520" y="4562856"/>
              <a:ext cx="0" cy="667512"/>
            </a:xfrm>
            <a:prstGeom prst="line">
              <a:avLst/>
            </a:prstGeom>
            <a:noFill/>
            <a:ln w="3175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Shape 25"/>
            <p:cNvSpPr/>
            <p:nvPr/>
          </p:nvSpPr>
          <p:spPr>
            <a:xfrm>
              <a:off x="3017520" y="2551176"/>
              <a:ext cx="0" cy="466344"/>
            </a:xfrm>
            <a:prstGeom prst="line">
              <a:avLst/>
            </a:prstGeom>
            <a:noFill/>
            <a:ln w="3175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8" name="Shape 26"/>
            <p:cNvSpPr/>
            <p:nvPr/>
          </p:nvSpPr>
          <p:spPr>
            <a:xfrm>
              <a:off x="3017520" y="1755648"/>
              <a:ext cx="0" cy="356616"/>
            </a:xfrm>
            <a:prstGeom prst="line">
              <a:avLst/>
            </a:prstGeom>
            <a:noFill/>
            <a:ln w="3175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Shape 29"/>
            <p:cNvSpPr/>
            <p:nvPr/>
          </p:nvSpPr>
          <p:spPr>
            <a:xfrm>
              <a:off x="4892040" y="4562856"/>
              <a:ext cx="0" cy="667512"/>
            </a:xfrm>
            <a:prstGeom prst="line">
              <a:avLst/>
            </a:prstGeom>
            <a:noFill/>
            <a:ln w="3175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Shape 30"/>
            <p:cNvSpPr/>
            <p:nvPr/>
          </p:nvSpPr>
          <p:spPr>
            <a:xfrm>
              <a:off x="4892040" y="2551176"/>
              <a:ext cx="0" cy="466344"/>
            </a:xfrm>
            <a:prstGeom prst="line">
              <a:avLst/>
            </a:prstGeom>
            <a:noFill/>
            <a:ln w="3175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3" name="Shape 31"/>
            <p:cNvSpPr/>
            <p:nvPr/>
          </p:nvSpPr>
          <p:spPr>
            <a:xfrm>
              <a:off x="4892040" y="1755648"/>
              <a:ext cx="0" cy="356616"/>
            </a:xfrm>
            <a:prstGeom prst="line">
              <a:avLst/>
            </a:prstGeom>
            <a:noFill/>
            <a:ln w="3175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Shape 34"/>
            <p:cNvSpPr/>
            <p:nvPr/>
          </p:nvSpPr>
          <p:spPr>
            <a:xfrm>
              <a:off x="6766560" y="4562856"/>
              <a:ext cx="0" cy="667512"/>
            </a:xfrm>
            <a:prstGeom prst="line">
              <a:avLst/>
            </a:prstGeom>
            <a:noFill/>
            <a:ln w="3175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7" name="Shape 35"/>
            <p:cNvSpPr/>
            <p:nvPr/>
          </p:nvSpPr>
          <p:spPr>
            <a:xfrm>
              <a:off x="6766560" y="2551176"/>
              <a:ext cx="0" cy="466344"/>
            </a:xfrm>
            <a:prstGeom prst="line">
              <a:avLst/>
            </a:prstGeom>
            <a:noFill/>
            <a:ln w="3175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8" name="Shape 36"/>
            <p:cNvSpPr/>
            <p:nvPr/>
          </p:nvSpPr>
          <p:spPr>
            <a:xfrm>
              <a:off x="6766560" y="1755648"/>
              <a:ext cx="0" cy="356616"/>
            </a:xfrm>
            <a:prstGeom prst="line">
              <a:avLst/>
            </a:prstGeom>
            <a:noFill/>
            <a:ln w="31750">
              <a:solidFill>
                <a:srgbClr val="6C8EBF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1" name="Shape 39"/>
            <p:cNvSpPr/>
            <p:nvPr/>
          </p:nvSpPr>
          <p:spPr>
            <a:xfrm>
              <a:off x="2761488" y="1225296"/>
              <a:ext cx="512064" cy="512064"/>
            </a:xfrm>
            <a:prstGeom prst="ellipse">
              <a:avLst/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Text 40"/>
            <p:cNvSpPr/>
            <p:nvPr/>
          </p:nvSpPr>
          <p:spPr>
            <a:xfrm>
              <a:off x="2670048" y="1225296"/>
              <a:ext cx="6949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i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y</a:t>
              </a:r>
              <a:r>
                <a:rPr lang="en-US" sz="1400" b="1" i="1" baseline="-40000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t-1</a:t>
              </a:r>
              <a:endParaRPr lang="en-US" sz="14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2816352" y="2130552"/>
              <a:ext cx="402336" cy="402336"/>
            </a:xfrm>
            <a:prstGeom prst="ellipse">
              <a:avLst/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4" name="Text 42"/>
            <p:cNvSpPr/>
            <p:nvPr/>
          </p:nvSpPr>
          <p:spPr>
            <a:xfrm>
              <a:off x="2724912" y="2130552"/>
              <a:ext cx="58521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σ</a:t>
              </a:r>
              <a:endParaRPr lang="en-US" sz="15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2331720" y="3049524"/>
              <a:ext cx="1371600" cy="566928"/>
            </a:xfrm>
            <a:prstGeom prst="roundRect">
              <a:avLst>
                <a:gd name="adj" fmla="val 11290"/>
              </a:avLst>
            </a:prstGeom>
            <a:solidFill>
              <a:srgbClr val="FBE5CC"/>
            </a:solidFill>
            <a:ln w="15875">
              <a:solidFill>
                <a:srgbClr val="B98A55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6" name="Text 44"/>
            <p:cNvSpPr/>
            <p:nvPr/>
          </p:nvSpPr>
          <p:spPr>
            <a:xfrm>
              <a:off x="2331720" y="3049524"/>
              <a:ext cx="13716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F4E2E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LSTM</a:t>
              </a:r>
              <a:endParaRPr lang="en-US" sz="15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2331720" y="3982212"/>
              <a:ext cx="1371600" cy="566928"/>
            </a:xfrm>
            <a:prstGeom prst="roundRect">
              <a:avLst>
                <a:gd name="adj" fmla="val 11290"/>
              </a:avLst>
            </a:prstGeom>
            <a:solidFill>
              <a:srgbClr val="FBE5CC"/>
            </a:solidFill>
            <a:ln w="15875">
              <a:solidFill>
                <a:srgbClr val="B98A55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8" name="Text 46"/>
            <p:cNvSpPr/>
            <p:nvPr/>
          </p:nvSpPr>
          <p:spPr>
            <a:xfrm>
              <a:off x="2331720" y="3982212"/>
              <a:ext cx="13716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F4E2E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LSTM</a:t>
              </a:r>
              <a:endParaRPr lang="en-US" sz="15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2761488" y="5248656"/>
              <a:ext cx="512064" cy="512064"/>
            </a:xfrm>
            <a:prstGeom prst="ellipse">
              <a:avLst/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" name="Text 48"/>
            <p:cNvSpPr/>
            <p:nvPr/>
          </p:nvSpPr>
          <p:spPr>
            <a:xfrm>
              <a:off x="2670048" y="5248656"/>
              <a:ext cx="6949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i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x</a:t>
              </a:r>
              <a:r>
                <a:rPr lang="en-US" sz="1400" b="1" i="1" baseline="-40000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t-1</a:t>
              </a:r>
              <a:endParaRPr lang="en-US" sz="14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3093922" y="2610131"/>
              <a:ext cx="3592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</a:t>
              </a:r>
              <a:r>
                <a:rPr lang="en-US" sz="135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t-1</a:t>
              </a:r>
              <a:endParaRPr lang="en-US" sz="135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4636008" y="1225296"/>
              <a:ext cx="512064" cy="512064"/>
            </a:xfrm>
            <a:prstGeom prst="ellipse">
              <a:avLst/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3" name="Text 51"/>
            <p:cNvSpPr/>
            <p:nvPr/>
          </p:nvSpPr>
          <p:spPr>
            <a:xfrm>
              <a:off x="4544568" y="1225296"/>
              <a:ext cx="6949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i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y</a:t>
              </a:r>
              <a:r>
                <a:rPr lang="en-US" sz="1400" b="1" i="1" baseline="-40000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</a:t>
              </a:r>
              <a:endParaRPr lang="en-US" sz="14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4690872" y="2130552"/>
              <a:ext cx="402336" cy="402336"/>
            </a:xfrm>
            <a:prstGeom prst="ellipse">
              <a:avLst/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5" name="Text 53"/>
            <p:cNvSpPr/>
            <p:nvPr/>
          </p:nvSpPr>
          <p:spPr>
            <a:xfrm>
              <a:off x="4599432" y="2130552"/>
              <a:ext cx="58521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σ</a:t>
              </a:r>
              <a:endParaRPr lang="en-US" sz="15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4206240" y="3049524"/>
              <a:ext cx="1371600" cy="566928"/>
            </a:xfrm>
            <a:prstGeom prst="roundRect">
              <a:avLst>
                <a:gd name="adj" fmla="val 11290"/>
              </a:avLst>
            </a:prstGeom>
            <a:solidFill>
              <a:srgbClr val="FBE5CC"/>
            </a:solidFill>
            <a:ln w="15875">
              <a:solidFill>
                <a:srgbClr val="B98A55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7" name="Text 55"/>
            <p:cNvSpPr/>
            <p:nvPr/>
          </p:nvSpPr>
          <p:spPr>
            <a:xfrm>
              <a:off x="4206240" y="3049524"/>
              <a:ext cx="13716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F4E2E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LSTM</a:t>
              </a:r>
              <a:endParaRPr lang="en-US" sz="15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4206240" y="3982212"/>
              <a:ext cx="1371600" cy="566928"/>
            </a:xfrm>
            <a:prstGeom prst="roundRect">
              <a:avLst>
                <a:gd name="adj" fmla="val 11290"/>
              </a:avLst>
            </a:prstGeom>
            <a:solidFill>
              <a:srgbClr val="FBE5CC"/>
            </a:solidFill>
            <a:ln w="15875">
              <a:solidFill>
                <a:srgbClr val="B98A55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9" name="Text 57"/>
            <p:cNvSpPr/>
            <p:nvPr/>
          </p:nvSpPr>
          <p:spPr>
            <a:xfrm>
              <a:off x="4206240" y="3982212"/>
              <a:ext cx="13716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F4E2E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LSTM</a:t>
              </a:r>
              <a:endParaRPr lang="en-US" sz="15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4636008" y="5248656"/>
              <a:ext cx="512064" cy="512064"/>
            </a:xfrm>
            <a:prstGeom prst="ellipse">
              <a:avLst/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1" name="Text 59"/>
            <p:cNvSpPr/>
            <p:nvPr/>
          </p:nvSpPr>
          <p:spPr>
            <a:xfrm>
              <a:off x="4544568" y="5248656"/>
              <a:ext cx="6949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i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x</a:t>
              </a:r>
              <a:r>
                <a:rPr lang="en-US" sz="1400" b="1" i="1" baseline="-40000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</a:t>
              </a:r>
              <a:endParaRPr lang="en-US" sz="14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4970485" y="2624328"/>
              <a:ext cx="210311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</a:t>
              </a:r>
              <a:r>
                <a:rPr lang="en-US" sz="135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</a:t>
              </a:r>
              <a:endParaRPr lang="en-US" sz="135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6510528" y="1225296"/>
              <a:ext cx="512064" cy="512064"/>
            </a:xfrm>
            <a:prstGeom prst="ellipse">
              <a:avLst/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4" name="Text 62"/>
            <p:cNvSpPr/>
            <p:nvPr/>
          </p:nvSpPr>
          <p:spPr>
            <a:xfrm>
              <a:off x="6419088" y="1225296"/>
              <a:ext cx="6949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i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y</a:t>
              </a:r>
              <a:r>
                <a:rPr lang="en-US" sz="1400" b="1" i="1" baseline="-40000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t+1</a:t>
              </a:r>
              <a:endParaRPr lang="en-US" sz="140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6565392" y="2130552"/>
              <a:ext cx="402336" cy="402336"/>
            </a:xfrm>
            <a:prstGeom prst="ellipse">
              <a:avLst/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6" name="Text 64"/>
            <p:cNvSpPr/>
            <p:nvPr/>
          </p:nvSpPr>
          <p:spPr>
            <a:xfrm>
              <a:off x="6473952" y="2130552"/>
              <a:ext cx="58521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σ</a:t>
              </a:r>
              <a:endParaRPr lang="en-US" sz="15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6080760" y="3049524"/>
              <a:ext cx="1371600" cy="566928"/>
            </a:xfrm>
            <a:prstGeom prst="roundRect">
              <a:avLst>
                <a:gd name="adj" fmla="val 11290"/>
              </a:avLst>
            </a:prstGeom>
            <a:solidFill>
              <a:srgbClr val="FBE5CC"/>
            </a:solidFill>
            <a:ln w="15875">
              <a:solidFill>
                <a:srgbClr val="B98A55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8" name="Text 66"/>
            <p:cNvSpPr/>
            <p:nvPr/>
          </p:nvSpPr>
          <p:spPr>
            <a:xfrm>
              <a:off x="6080760" y="3049524"/>
              <a:ext cx="13716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F4E2E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LSTM</a:t>
              </a:r>
              <a:endParaRPr lang="en-US" sz="150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6080760" y="3982212"/>
              <a:ext cx="1371600" cy="566928"/>
            </a:xfrm>
            <a:prstGeom prst="roundRect">
              <a:avLst>
                <a:gd name="adj" fmla="val 11290"/>
              </a:avLst>
            </a:prstGeom>
            <a:solidFill>
              <a:srgbClr val="FBE5CC"/>
            </a:solidFill>
            <a:ln w="15875">
              <a:solidFill>
                <a:srgbClr val="B98A55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0" name="Text 68"/>
            <p:cNvSpPr/>
            <p:nvPr/>
          </p:nvSpPr>
          <p:spPr>
            <a:xfrm>
              <a:off x="6080760" y="3982212"/>
              <a:ext cx="13716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6F4E2E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LSTM</a:t>
              </a:r>
              <a:endParaRPr lang="en-US" sz="150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6510528" y="5248656"/>
              <a:ext cx="512064" cy="512064"/>
            </a:xfrm>
            <a:prstGeom prst="ellipse">
              <a:avLst/>
            </a:prstGeom>
            <a:solidFill>
              <a:srgbClr val="BDD7EE"/>
            </a:solidFill>
            <a:ln w="15875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" name="Text 70"/>
            <p:cNvSpPr/>
            <p:nvPr/>
          </p:nvSpPr>
          <p:spPr>
            <a:xfrm>
              <a:off x="6419088" y="5248656"/>
              <a:ext cx="69494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i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x</a:t>
              </a:r>
              <a:r>
                <a:rPr lang="en-US" sz="1400" b="1" i="1" baseline="-40000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t+1</a:t>
              </a:r>
              <a:endParaRPr lang="en-US" sz="1400" dirty="0"/>
            </a:p>
          </p:txBody>
        </p:sp>
        <p:sp>
          <p:nvSpPr>
            <p:cNvPr id="73" name="Text 71"/>
            <p:cNvSpPr/>
            <p:nvPr/>
          </p:nvSpPr>
          <p:spPr>
            <a:xfrm>
              <a:off x="6848856" y="2633472"/>
              <a:ext cx="32918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b="1" i="1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</a:t>
              </a:r>
              <a:r>
                <a:rPr lang="en-US" sz="1350" b="1" i="1" baseline="-4000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t+1</a:t>
              </a:r>
              <a:endParaRPr lang="en-US" sz="135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2724912" y="1826874"/>
              <a:ext cx="28346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i="1" dirty="0">
                  <a:solidFill>
                    <a:srgbClr val="44546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</a:t>
              </a:r>
              <a:r>
                <a:rPr lang="en-US" sz="1400" b="1" i="1" baseline="-40000" dirty="0">
                  <a:solidFill>
                    <a:srgbClr val="44546A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o</a:t>
              </a:r>
              <a:endParaRPr lang="en-US" sz="14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2556231" y="5138928"/>
              <a:ext cx="260121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i="1" dirty="0">
                  <a:solidFill>
                    <a:srgbClr val="1F4E7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</a:t>
              </a:r>
              <a:r>
                <a:rPr lang="en-US" sz="1400" b="1" i="1" baseline="-40000" dirty="0">
                  <a:solidFill>
                    <a:srgbClr val="1F4E7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</a:t>
              </a:r>
              <a:endParaRPr lang="en-US" sz="1400" dirty="0"/>
            </a:p>
          </p:txBody>
        </p:sp>
        <p:sp>
          <p:nvSpPr>
            <p:cNvPr id="82" name="Shape 0"/>
            <p:cNvSpPr/>
            <p:nvPr/>
          </p:nvSpPr>
          <p:spPr>
            <a:xfrm>
              <a:off x="411480" y="6185916"/>
              <a:ext cx="8321040" cy="580644"/>
            </a:xfrm>
            <a:prstGeom prst="roundRect">
              <a:avLst>
                <a:gd name="adj" fmla="val 14173"/>
              </a:avLst>
            </a:prstGeom>
            <a:solidFill>
              <a:srgbClr val="FFFFFF"/>
            </a:solidFill>
            <a:ln w="12700">
              <a:solidFill>
                <a:srgbClr val="C9D2DB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3" name="Shape 1"/>
            <p:cNvSpPr/>
            <p:nvPr/>
          </p:nvSpPr>
          <p:spPr>
            <a:xfrm>
              <a:off x="713232" y="6039612"/>
              <a:ext cx="932688" cy="292608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12700">
              <a:solidFill>
                <a:srgbClr val="C9D2DB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4" name="Text 2"/>
            <p:cNvSpPr/>
            <p:nvPr/>
          </p:nvSpPr>
          <p:spPr>
            <a:xfrm>
              <a:off x="713232" y="6039612"/>
              <a:ext cx="93268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Legend</a:t>
              </a:r>
              <a:endParaRPr lang="en-US" sz="1350" dirty="0"/>
            </a:p>
          </p:txBody>
        </p:sp>
        <p:sp>
          <p:nvSpPr>
            <p:cNvPr id="85" name="Shape 3"/>
            <p:cNvSpPr/>
            <p:nvPr/>
          </p:nvSpPr>
          <p:spPr>
            <a:xfrm>
              <a:off x="1874520" y="6259068"/>
              <a:ext cx="384048" cy="201168"/>
            </a:xfrm>
            <a:prstGeom prst="roundRect">
              <a:avLst>
                <a:gd name="adj" fmla="val 18182"/>
              </a:avLst>
            </a:prstGeom>
            <a:solidFill>
              <a:srgbClr val="FBE5CC"/>
            </a:solidFill>
            <a:ln w="12700">
              <a:solidFill>
                <a:srgbClr val="B98A55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6" name="Text 4"/>
            <p:cNvSpPr/>
            <p:nvPr/>
          </p:nvSpPr>
          <p:spPr>
            <a:xfrm>
              <a:off x="2368296" y="6240780"/>
              <a:ext cx="1737360" cy="237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LSTM memory cell</a:t>
              </a:r>
              <a:endParaRPr lang="en-US" sz="1250" dirty="0"/>
            </a:p>
          </p:txBody>
        </p:sp>
        <p:sp>
          <p:nvSpPr>
            <p:cNvPr id="87" name="Shape 5"/>
            <p:cNvSpPr/>
            <p:nvPr/>
          </p:nvSpPr>
          <p:spPr>
            <a:xfrm>
              <a:off x="4343400" y="6245352"/>
              <a:ext cx="228600" cy="228600"/>
            </a:xfrm>
            <a:prstGeom prst="ellipse">
              <a:avLst/>
            </a:prstGeom>
            <a:solidFill>
              <a:srgbClr val="BDD7EE"/>
            </a:solidFill>
            <a:ln w="12700">
              <a:solidFill>
                <a:srgbClr val="6C8EBF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8" name="Text 6"/>
            <p:cNvSpPr/>
            <p:nvPr/>
          </p:nvSpPr>
          <p:spPr>
            <a:xfrm>
              <a:off x="4343400" y="6231636"/>
              <a:ext cx="228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σ</a:t>
              </a:r>
              <a:endParaRPr lang="en-US" sz="1050" dirty="0"/>
            </a:p>
          </p:txBody>
        </p:sp>
        <p:sp>
          <p:nvSpPr>
            <p:cNvPr id="89" name="Text 7"/>
            <p:cNvSpPr/>
            <p:nvPr/>
          </p:nvSpPr>
          <p:spPr>
            <a:xfrm>
              <a:off x="4681728" y="6240780"/>
              <a:ext cx="1737360" cy="237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output activation</a:t>
              </a:r>
              <a:endParaRPr lang="en-US" sz="1250" dirty="0"/>
            </a:p>
          </p:txBody>
        </p:sp>
        <p:sp>
          <p:nvSpPr>
            <p:cNvPr id="90" name="Shape 8"/>
            <p:cNvSpPr/>
            <p:nvPr/>
          </p:nvSpPr>
          <p:spPr>
            <a:xfrm>
              <a:off x="6537960" y="6359652"/>
              <a:ext cx="365760" cy="0"/>
            </a:xfrm>
            <a:prstGeom prst="line">
              <a:avLst/>
            </a:prstGeom>
            <a:noFill/>
            <a:ln w="34925">
              <a:solidFill>
                <a:srgbClr val="C9A22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1" name="Text 9"/>
            <p:cNvSpPr/>
            <p:nvPr/>
          </p:nvSpPr>
          <p:spPr>
            <a:xfrm>
              <a:off x="7013448" y="6240780"/>
              <a:ext cx="1371600" cy="237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forward pass</a:t>
              </a:r>
              <a:endParaRPr lang="en-US" sz="1250" dirty="0"/>
            </a:p>
          </p:txBody>
        </p:sp>
        <p:sp>
          <p:nvSpPr>
            <p:cNvPr id="92" name="Shape 10"/>
            <p:cNvSpPr/>
            <p:nvPr/>
          </p:nvSpPr>
          <p:spPr>
            <a:xfrm>
              <a:off x="1874520" y="6606540"/>
              <a:ext cx="365760" cy="0"/>
            </a:xfrm>
            <a:prstGeom prst="line">
              <a:avLst/>
            </a:prstGeom>
            <a:noFill/>
            <a:ln w="34925">
              <a:solidFill>
                <a:srgbClr val="6FAF46"/>
              </a:solidFill>
              <a:prstDash val="solid"/>
              <a:head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3" name="Text 11"/>
            <p:cNvSpPr/>
            <p:nvPr/>
          </p:nvSpPr>
          <p:spPr>
            <a:xfrm>
              <a:off x="2368296" y="6487668"/>
              <a:ext cx="1645920" cy="237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backward pass</a:t>
              </a:r>
              <a:endParaRPr lang="en-US" sz="1250" dirty="0"/>
            </a:p>
          </p:txBody>
        </p:sp>
        <p:sp>
          <p:nvSpPr>
            <p:cNvPr id="94" name="Shape 12"/>
            <p:cNvSpPr/>
            <p:nvPr/>
          </p:nvSpPr>
          <p:spPr>
            <a:xfrm>
              <a:off x="4343400" y="6606540"/>
              <a:ext cx="365760" cy="0"/>
            </a:xfrm>
            <a:prstGeom prst="line">
              <a:avLst/>
            </a:prstGeom>
            <a:noFill/>
            <a:ln w="28575">
              <a:solidFill>
                <a:srgbClr val="6C8EB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5" name="Text 13"/>
            <p:cNvSpPr/>
            <p:nvPr/>
          </p:nvSpPr>
          <p:spPr>
            <a:xfrm>
              <a:off x="4818888" y="6487668"/>
              <a:ext cx="1737360" cy="237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information flow</a:t>
              </a:r>
              <a:endParaRPr lang="en-US" sz="1250" dirty="0"/>
            </a:p>
          </p:txBody>
        </p:sp>
        <p:sp>
          <p:nvSpPr>
            <p:cNvPr id="96" name="Shape 14"/>
            <p:cNvSpPr/>
            <p:nvPr/>
          </p:nvSpPr>
          <p:spPr>
            <a:xfrm>
              <a:off x="6537960" y="6505956"/>
              <a:ext cx="365760" cy="201168"/>
            </a:xfrm>
            <a:prstGeom prst="roundRect">
              <a:avLst>
                <a:gd name="adj" fmla="val 22727"/>
              </a:avLst>
            </a:prstGeom>
            <a:ln w="13970">
              <a:solidFill>
                <a:srgbClr val="8497B0"/>
              </a:solidFill>
              <a:prstDash val="dash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7" name="Text 15"/>
            <p:cNvSpPr/>
            <p:nvPr/>
          </p:nvSpPr>
          <p:spPr>
            <a:xfrm>
              <a:off x="7013448" y="6487668"/>
              <a:ext cx="2011680" cy="237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262626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layer / time-step group</a:t>
              </a:r>
              <a:endParaRPr lang="en-US" sz="125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39B097C-22C8-5A08-DC54-5A920ADF4F46}"/>
                </a:ext>
              </a:extLst>
            </p:cNvPr>
            <p:cNvSpPr/>
            <p:nvPr/>
          </p:nvSpPr>
          <p:spPr>
            <a:xfrm>
              <a:off x="2496553" y="2767263"/>
              <a:ext cx="517358" cy="1221205"/>
            </a:xfrm>
            <a:custGeom>
              <a:avLst/>
              <a:gdLst>
                <a:gd name="csX0" fmla="*/ 0 w 517358"/>
                <a:gd name="csY0" fmla="*/ 1221205 h 1221205"/>
                <a:gd name="csX1" fmla="*/ 108284 w 517358"/>
                <a:gd name="csY1" fmla="*/ 463216 h 1221205"/>
                <a:gd name="csX2" fmla="*/ 517358 w 517358"/>
                <a:gd name="csY2" fmla="*/ 0 h 12212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7358" h="1221205">
                  <a:moveTo>
                    <a:pt x="0" y="1221205"/>
                  </a:moveTo>
                  <a:cubicBezTo>
                    <a:pt x="11029" y="943977"/>
                    <a:pt x="22058" y="666750"/>
                    <a:pt x="108284" y="463216"/>
                  </a:cubicBezTo>
                  <a:cubicBezTo>
                    <a:pt x="194510" y="259682"/>
                    <a:pt x="355934" y="129841"/>
                    <a:pt x="517358" y="0"/>
                  </a:cubicBezTo>
                </a:path>
              </a:pathLst>
            </a:custGeom>
            <a:noFill/>
            <a:ln w="28575">
              <a:solidFill>
                <a:srgbClr val="6C8E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5948B47-3F01-CE06-86CE-6823C22B7D58}"/>
                </a:ext>
              </a:extLst>
            </p:cNvPr>
            <p:cNvSpPr/>
            <p:nvPr/>
          </p:nvSpPr>
          <p:spPr>
            <a:xfrm>
              <a:off x="4370832" y="2751863"/>
              <a:ext cx="517358" cy="1221205"/>
            </a:xfrm>
            <a:custGeom>
              <a:avLst/>
              <a:gdLst>
                <a:gd name="csX0" fmla="*/ 0 w 517358"/>
                <a:gd name="csY0" fmla="*/ 1221205 h 1221205"/>
                <a:gd name="csX1" fmla="*/ 108284 w 517358"/>
                <a:gd name="csY1" fmla="*/ 463216 h 1221205"/>
                <a:gd name="csX2" fmla="*/ 517358 w 517358"/>
                <a:gd name="csY2" fmla="*/ 0 h 12212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7358" h="1221205">
                  <a:moveTo>
                    <a:pt x="0" y="1221205"/>
                  </a:moveTo>
                  <a:cubicBezTo>
                    <a:pt x="11029" y="943977"/>
                    <a:pt x="22058" y="666750"/>
                    <a:pt x="108284" y="463216"/>
                  </a:cubicBezTo>
                  <a:cubicBezTo>
                    <a:pt x="194510" y="259682"/>
                    <a:pt x="355934" y="129841"/>
                    <a:pt x="517358" y="0"/>
                  </a:cubicBezTo>
                </a:path>
              </a:pathLst>
            </a:custGeom>
            <a:noFill/>
            <a:ln w="28575">
              <a:solidFill>
                <a:srgbClr val="6C8E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EDBDF85-13E5-327A-B4AB-24C77BF5EF35}"/>
                </a:ext>
              </a:extLst>
            </p:cNvPr>
            <p:cNvSpPr/>
            <p:nvPr/>
          </p:nvSpPr>
          <p:spPr>
            <a:xfrm>
              <a:off x="6242705" y="2747291"/>
              <a:ext cx="517358" cy="1221205"/>
            </a:xfrm>
            <a:custGeom>
              <a:avLst/>
              <a:gdLst>
                <a:gd name="csX0" fmla="*/ 0 w 517358"/>
                <a:gd name="csY0" fmla="*/ 1221205 h 1221205"/>
                <a:gd name="csX1" fmla="*/ 108284 w 517358"/>
                <a:gd name="csY1" fmla="*/ 463216 h 1221205"/>
                <a:gd name="csX2" fmla="*/ 517358 w 517358"/>
                <a:gd name="csY2" fmla="*/ 0 h 12212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7358" h="1221205">
                  <a:moveTo>
                    <a:pt x="0" y="1221205"/>
                  </a:moveTo>
                  <a:cubicBezTo>
                    <a:pt x="11029" y="943977"/>
                    <a:pt x="22058" y="666750"/>
                    <a:pt x="108284" y="463216"/>
                  </a:cubicBezTo>
                  <a:cubicBezTo>
                    <a:pt x="194510" y="259682"/>
                    <a:pt x="355934" y="129841"/>
                    <a:pt x="517358" y="0"/>
                  </a:cubicBezTo>
                </a:path>
              </a:pathLst>
            </a:custGeom>
            <a:noFill/>
            <a:ln w="28575">
              <a:solidFill>
                <a:srgbClr val="6C8E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A23A1E1-270E-B8FD-9C78-FD49516852BF}"/>
                </a:ext>
              </a:extLst>
            </p:cNvPr>
            <p:cNvSpPr/>
            <p:nvPr/>
          </p:nvSpPr>
          <p:spPr>
            <a:xfrm>
              <a:off x="3013911" y="3615489"/>
              <a:ext cx="493294" cy="1341522"/>
            </a:xfrm>
            <a:custGeom>
              <a:avLst/>
              <a:gdLst>
                <a:gd name="csX0" fmla="*/ 0 w 493294"/>
                <a:gd name="csY0" fmla="*/ 1341522 h 1341522"/>
                <a:gd name="csX1" fmla="*/ 198521 w 493294"/>
                <a:gd name="csY1" fmla="*/ 1227222 h 1341522"/>
                <a:gd name="csX2" fmla="*/ 342900 w 493294"/>
                <a:gd name="csY2" fmla="*/ 1227222 h 1341522"/>
                <a:gd name="csX3" fmla="*/ 493294 w 493294"/>
                <a:gd name="csY3" fmla="*/ 0 h 1341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3294" h="1341522">
                  <a:moveTo>
                    <a:pt x="0" y="1341522"/>
                  </a:moveTo>
                  <a:cubicBezTo>
                    <a:pt x="70685" y="1293897"/>
                    <a:pt x="141371" y="1246272"/>
                    <a:pt x="198521" y="1227222"/>
                  </a:cubicBezTo>
                  <a:cubicBezTo>
                    <a:pt x="255671" y="1208172"/>
                    <a:pt x="293771" y="1431759"/>
                    <a:pt x="342900" y="1227222"/>
                  </a:cubicBezTo>
                  <a:cubicBezTo>
                    <a:pt x="392029" y="1022685"/>
                    <a:pt x="442661" y="511342"/>
                    <a:pt x="493294" y="0"/>
                  </a:cubicBezTo>
                </a:path>
              </a:pathLst>
            </a:custGeom>
            <a:noFill/>
            <a:ln w="28575">
              <a:solidFill>
                <a:srgbClr val="6C8E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5A8377E-44A4-815C-CAA1-72EA83125538}"/>
                </a:ext>
              </a:extLst>
            </p:cNvPr>
            <p:cNvSpPr/>
            <p:nvPr/>
          </p:nvSpPr>
          <p:spPr>
            <a:xfrm>
              <a:off x="4892040" y="3616452"/>
              <a:ext cx="493294" cy="1341522"/>
            </a:xfrm>
            <a:custGeom>
              <a:avLst/>
              <a:gdLst>
                <a:gd name="csX0" fmla="*/ 0 w 493294"/>
                <a:gd name="csY0" fmla="*/ 1341522 h 1341522"/>
                <a:gd name="csX1" fmla="*/ 198521 w 493294"/>
                <a:gd name="csY1" fmla="*/ 1227222 h 1341522"/>
                <a:gd name="csX2" fmla="*/ 342900 w 493294"/>
                <a:gd name="csY2" fmla="*/ 1227222 h 1341522"/>
                <a:gd name="csX3" fmla="*/ 493294 w 493294"/>
                <a:gd name="csY3" fmla="*/ 0 h 1341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3294" h="1341522">
                  <a:moveTo>
                    <a:pt x="0" y="1341522"/>
                  </a:moveTo>
                  <a:cubicBezTo>
                    <a:pt x="70685" y="1293897"/>
                    <a:pt x="141371" y="1246272"/>
                    <a:pt x="198521" y="1227222"/>
                  </a:cubicBezTo>
                  <a:cubicBezTo>
                    <a:pt x="255671" y="1208172"/>
                    <a:pt x="293771" y="1431759"/>
                    <a:pt x="342900" y="1227222"/>
                  </a:cubicBezTo>
                  <a:cubicBezTo>
                    <a:pt x="392029" y="1022685"/>
                    <a:pt x="442661" y="511342"/>
                    <a:pt x="493294" y="0"/>
                  </a:cubicBezTo>
                </a:path>
              </a:pathLst>
            </a:custGeom>
            <a:noFill/>
            <a:ln w="28575">
              <a:solidFill>
                <a:srgbClr val="6C8E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48F4961-634A-3D6D-9CD0-BB55F627BC56}"/>
                </a:ext>
              </a:extLst>
            </p:cNvPr>
            <p:cNvSpPr/>
            <p:nvPr/>
          </p:nvSpPr>
          <p:spPr>
            <a:xfrm>
              <a:off x="6782683" y="3616452"/>
              <a:ext cx="493294" cy="1341522"/>
            </a:xfrm>
            <a:custGeom>
              <a:avLst/>
              <a:gdLst>
                <a:gd name="csX0" fmla="*/ 0 w 493294"/>
                <a:gd name="csY0" fmla="*/ 1341522 h 1341522"/>
                <a:gd name="csX1" fmla="*/ 198521 w 493294"/>
                <a:gd name="csY1" fmla="*/ 1227222 h 1341522"/>
                <a:gd name="csX2" fmla="*/ 342900 w 493294"/>
                <a:gd name="csY2" fmla="*/ 1227222 h 1341522"/>
                <a:gd name="csX3" fmla="*/ 493294 w 493294"/>
                <a:gd name="csY3" fmla="*/ 0 h 1341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3294" h="1341522">
                  <a:moveTo>
                    <a:pt x="0" y="1341522"/>
                  </a:moveTo>
                  <a:cubicBezTo>
                    <a:pt x="70685" y="1293897"/>
                    <a:pt x="141371" y="1246272"/>
                    <a:pt x="198521" y="1227222"/>
                  </a:cubicBezTo>
                  <a:cubicBezTo>
                    <a:pt x="255671" y="1208172"/>
                    <a:pt x="293771" y="1431759"/>
                    <a:pt x="342900" y="1227222"/>
                  </a:cubicBezTo>
                  <a:cubicBezTo>
                    <a:pt x="392029" y="1022685"/>
                    <a:pt x="442661" y="511342"/>
                    <a:pt x="493294" y="0"/>
                  </a:cubicBezTo>
                </a:path>
              </a:pathLst>
            </a:custGeom>
            <a:noFill/>
            <a:ln w="28575">
              <a:solidFill>
                <a:srgbClr val="6C8E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6645A0-59EA-F28A-B0F9-7AE376A8F6A2}"/>
                </a:ext>
              </a:extLst>
            </p:cNvPr>
            <p:cNvSpPr txBox="1"/>
            <p:nvPr/>
          </p:nvSpPr>
          <p:spPr>
            <a:xfrm>
              <a:off x="502920" y="930902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CA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58</Words>
  <Application>Microsoft PowerPoint</Application>
  <PresentationFormat>On-screen Show (4:3)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Saad Khan</dc:creator>
  <cp:lastModifiedBy>Saad Khan</cp:lastModifiedBy>
  <cp:revision>10</cp:revision>
  <dcterms:created xsi:type="dcterms:W3CDTF">2026-08-01T04:32:37Z</dcterms:created>
  <dcterms:modified xsi:type="dcterms:W3CDTF">2026-08-10T21:11:56Z</dcterms:modified>
</cp:coreProperties>
</file>