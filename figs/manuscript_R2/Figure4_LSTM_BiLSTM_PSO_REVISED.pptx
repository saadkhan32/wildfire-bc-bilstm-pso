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8503920"/>
  <p:notesSz cx="850392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9144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LSTM unit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572768" cy="3127248"/>
          </a:xfrm>
          <a:prstGeom prst="roundRect">
            <a:avLst>
              <a:gd name="adj" fmla="val 1744"/>
            </a:avLst>
          </a:prstGeom>
          <a:solidFill>
            <a:srgbClr val="FBFDFF"/>
          </a:solidFill>
          <a:ln w="15240">
            <a:solidFill>
              <a:srgbClr val="7FA9D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6035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gate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21408" y="932688"/>
            <a:ext cx="1883664" cy="3127248"/>
          </a:xfrm>
          <a:prstGeom prst="roundRect">
            <a:avLst>
              <a:gd name="adj" fmla="val 1456"/>
            </a:avLst>
          </a:prstGeom>
          <a:solidFill>
            <a:srgbClr val="FAFDF8"/>
          </a:solidFill>
          <a:ln w="15240">
            <a:solidFill>
              <a:srgbClr val="8FBF7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21408" y="6035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96512" y="932688"/>
            <a:ext cx="1645920" cy="3127248"/>
          </a:xfrm>
          <a:prstGeom prst="roundRect">
            <a:avLst>
              <a:gd name="adj" fmla="val 1667"/>
            </a:avLst>
          </a:prstGeom>
          <a:solidFill>
            <a:srgbClr val="FEFCF5"/>
          </a:solidFill>
          <a:ln w="15240">
            <a:solidFill>
              <a:srgbClr val="CFB05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096512" y="603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11704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" y="12527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5760720" y="11704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71616" y="12527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75488" y="1298448"/>
            <a:ext cx="5230368" cy="0"/>
          </a:xfrm>
          <a:prstGeom prst="line">
            <a:avLst/>
          </a:prstGeom>
          <a:noFill/>
          <a:ln w="30480">
            <a:solidFill>
              <a:srgbClr val="C0A18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42416" y="109728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0A18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71216" y="109728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0A18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Ψσ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31136" y="2615184"/>
            <a:ext cx="841248" cy="566928"/>
          </a:xfrm>
          <a:prstGeom prst="roundRect">
            <a:avLst>
              <a:gd name="adj" fmla="val 8065"/>
            </a:avLst>
          </a:prstGeom>
          <a:solidFill>
            <a:srgbClr val="DDEBD3"/>
          </a:solidFill>
          <a:ln w="15240">
            <a:solidFill>
              <a:srgbClr val="8FBF7F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63824" y="2615184"/>
            <a:ext cx="859536" cy="566928"/>
          </a:xfrm>
          <a:prstGeom prst="roundRect">
            <a:avLst>
              <a:gd name="adj" fmla="val 8065"/>
            </a:avLst>
          </a:prstGeom>
          <a:solidFill>
            <a:srgbClr val="FBF0CC"/>
          </a:solidFill>
          <a:ln w="15240">
            <a:solidFill>
              <a:srgbClr val="CFB05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Ψtanh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61104" y="2615184"/>
            <a:ext cx="896112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Ψσ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184708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B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184708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FB0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932688"/>
            <a:ext cx="822960" cy="438912"/>
          </a:xfrm>
          <a:prstGeom prst="roundRect">
            <a:avLst>
              <a:gd name="adj" fmla="val 10417"/>
            </a:avLst>
          </a:prstGeom>
          <a:solidFill>
            <a:srgbClr val="FBF0CC"/>
          </a:solidFill>
          <a:ln w="15240">
            <a:solidFill>
              <a:srgbClr val="CFB05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Ψtanh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" y="22128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52144" y="22951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1243584" y="2615184"/>
            <a:ext cx="0" cy="-1078992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139696" y="22128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50592" y="22951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2651760" y="2615184"/>
            <a:ext cx="256032" cy="-329184"/>
          </a:xfrm>
          <a:prstGeom prst="line">
            <a:avLst/>
          </a:prstGeom>
          <a:noFill/>
          <a:ln w="1524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346704" y="22128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0" y="22951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3529584" y="2615184"/>
            <a:ext cx="-329184" cy="-329184"/>
          </a:xfrm>
          <a:prstGeom prst="line">
            <a:avLst/>
          </a:prstGeom>
          <a:noFill/>
          <a:ln w="15240">
            <a:solidFill>
              <a:srgbClr val="CFB05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127248" y="1847088"/>
            <a:ext cx="0" cy="-329184"/>
          </a:xfrm>
          <a:prstGeom prst="line">
            <a:avLst/>
          </a:prstGeom>
          <a:noFill/>
          <a:ln w="1524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206240" y="22128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17136" y="22951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4700016" y="2615184"/>
            <a:ext cx="274320" cy="-347472"/>
          </a:xfrm>
          <a:prstGeom prst="line">
            <a:avLst/>
          </a:prstGeom>
          <a:noFill/>
          <a:ln w="15240">
            <a:solidFill>
              <a:srgbClr val="C0A18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57216" y="1371600"/>
            <a:ext cx="0" cy="420624"/>
          </a:xfrm>
          <a:prstGeom prst="line">
            <a:avLst/>
          </a:prstGeom>
          <a:noFill/>
          <a:ln w="15240">
            <a:solidFill>
              <a:srgbClr val="CFB055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0" y="34564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0896" y="35387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5760720" y="34564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71616" y="35387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475488" y="3584448"/>
            <a:ext cx="420624" cy="0"/>
          </a:xfrm>
          <a:prstGeom prst="line">
            <a:avLst/>
          </a:prstGeom>
          <a:noFill/>
          <a:ln w="2032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96112" y="3584448"/>
            <a:ext cx="4279392" cy="0"/>
          </a:xfrm>
          <a:prstGeom prst="line">
            <a:avLst/>
          </a:prstGeom>
          <a:noFill/>
          <a:ln w="20320">
            <a:solidFill>
              <a:srgbClr val="7FA9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75504" y="3584448"/>
            <a:ext cx="530352" cy="0"/>
          </a:xfrm>
          <a:prstGeom prst="line">
            <a:avLst/>
          </a:prstGeom>
          <a:noFill/>
          <a:ln w="2032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157216" y="2249424"/>
            <a:ext cx="0" cy="1261872"/>
          </a:xfrm>
          <a:prstGeom prst="line">
            <a:avLst/>
          </a:prstGeom>
          <a:noFill/>
          <a:ln w="17780">
            <a:solidFill>
              <a:srgbClr val="C0A18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243584" y="3584448"/>
            <a:ext cx="0" cy="-402336"/>
          </a:xfrm>
          <a:prstGeom prst="line">
            <a:avLst/>
          </a:prstGeom>
          <a:noFill/>
          <a:ln w="12700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651760" y="3584448"/>
            <a:ext cx="0" cy="-402336"/>
          </a:xfrm>
          <a:prstGeom prst="line">
            <a:avLst/>
          </a:prstGeom>
          <a:noFill/>
          <a:ln w="12700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529584" y="3584448"/>
            <a:ext cx="0" cy="-402336"/>
          </a:xfrm>
          <a:prstGeom prst="line">
            <a:avLst/>
          </a:prstGeom>
          <a:noFill/>
          <a:ln w="12700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700016" y="3584448"/>
            <a:ext cx="0" cy="-402336"/>
          </a:xfrm>
          <a:prstGeom prst="line">
            <a:avLst/>
          </a:prstGeom>
          <a:noFill/>
          <a:ln w="12700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2231136" y="4224528"/>
            <a:ext cx="1243584" cy="4572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15240">
            <a:solidFill>
              <a:srgbClr val="ADADA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377440" y="43159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651760" y="4389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852928" y="4224528"/>
            <a:ext cx="0" cy="-566928"/>
          </a:xfrm>
          <a:prstGeom prst="line">
            <a:avLst/>
          </a:prstGeom>
          <a:noFill/>
          <a:ln w="13970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91440" y="479145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sigmoid;  tanh = hyperbolic tangent;  × elementwise product;  + elementwise sum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6400800" y="914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BiLSTM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7059168" y="896112"/>
            <a:ext cx="4901184" cy="694944"/>
          </a:xfrm>
          <a:prstGeom prst="roundRect">
            <a:avLst>
              <a:gd name="adj" fmla="val 3947"/>
            </a:avLst>
          </a:prstGeom>
          <a:solidFill>
            <a:srgbClr val="FCFAFE"/>
          </a:solidFill>
          <a:ln w="15240">
            <a:solidFill>
              <a:srgbClr val="B49CD6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382512" y="11338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7059168" y="1810512"/>
            <a:ext cx="4901184" cy="694944"/>
          </a:xfrm>
          <a:prstGeom prst="roundRect">
            <a:avLst>
              <a:gd name="adj" fmla="val 3947"/>
            </a:avLst>
          </a:prstGeom>
          <a:solidFill>
            <a:srgbClr val="FBFDFF"/>
          </a:solidFill>
          <a:ln w="15240">
            <a:solidFill>
              <a:srgbClr val="7FA9D0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6382512" y="2048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7059168" y="2724912"/>
            <a:ext cx="4901184" cy="731520"/>
          </a:xfrm>
          <a:prstGeom prst="roundRect">
            <a:avLst>
              <a:gd name="adj" fmla="val 3750"/>
            </a:avLst>
          </a:prstGeom>
          <a:solidFill>
            <a:srgbClr val="FEFCF5"/>
          </a:solidFill>
          <a:ln w="15240">
            <a:solidFill>
              <a:srgbClr val="CFB055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6382512" y="29809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A58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7059168" y="3675888"/>
            <a:ext cx="4901184" cy="731520"/>
          </a:xfrm>
          <a:prstGeom prst="roundRect">
            <a:avLst>
              <a:gd name="adj" fmla="val 3750"/>
            </a:avLst>
          </a:prstGeom>
          <a:solidFill>
            <a:srgbClr val="FAFDF8"/>
          </a:solidFill>
          <a:ln w="15240">
            <a:solidFill>
              <a:srgbClr val="8FBF7F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6382512" y="3931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4E7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7059168" y="4626864"/>
            <a:ext cx="4901184" cy="694944"/>
          </a:xfrm>
          <a:prstGeom prst="roundRect">
            <a:avLst>
              <a:gd name="adj" fmla="val 3947"/>
            </a:avLst>
          </a:prstGeom>
          <a:solidFill>
            <a:srgbClr val="F7FAFD"/>
          </a:solidFill>
          <a:ln w="15240">
            <a:solidFill>
              <a:srgbClr val="7FA9D0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6382512" y="48646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60" dirty="0"/>
          </a:p>
        </p:txBody>
      </p:sp>
      <p:sp>
        <p:nvSpPr>
          <p:cNvPr id="65" name="Text 63"/>
          <p:cNvSpPr/>
          <p:nvPr/>
        </p:nvSpPr>
        <p:spPr>
          <a:xfrm>
            <a:off x="7662672" y="4718304"/>
            <a:ext cx="512064" cy="512064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65008" y="50474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  <a:endParaRPr lang="en-US" sz="760" dirty="0"/>
          </a:p>
        </p:txBody>
      </p:sp>
      <p:sp>
        <p:nvSpPr>
          <p:cNvPr id="67" name="Text 65"/>
          <p:cNvSpPr/>
          <p:nvPr/>
        </p:nvSpPr>
        <p:spPr>
          <a:xfrm>
            <a:off x="7242048" y="3749040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242048" y="2798064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662672" y="1883664"/>
            <a:ext cx="512064" cy="512064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7662672" y="969264"/>
            <a:ext cx="530352" cy="530352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8083296" y="12984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7918704" y="4718304"/>
            <a:ext cx="0" cy="-384048"/>
          </a:xfrm>
          <a:prstGeom prst="line">
            <a:avLst/>
          </a:prstGeom>
          <a:noFill/>
          <a:ln w="1524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7918704" y="3749040"/>
            <a:ext cx="0" cy="-365760"/>
          </a:xfrm>
          <a:prstGeom prst="line">
            <a:avLst/>
          </a:prstGeom>
          <a:noFill/>
          <a:ln w="15240">
            <a:solidFill>
              <a:srgbClr val="C0A183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918704" y="2798064"/>
            <a:ext cx="0" cy="-384048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918704" y="1883664"/>
            <a:ext cx="0" cy="-365760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7516368" y="4828032"/>
            <a:ext cx="-219456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96912" y="4828032"/>
            <a:ext cx="0" cy="-1719072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96912" y="3108960"/>
            <a:ext cx="25603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9308592" y="4718304"/>
            <a:ext cx="512064" cy="512064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710928" y="50474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60" dirty="0"/>
          </a:p>
        </p:txBody>
      </p:sp>
      <p:sp>
        <p:nvSpPr>
          <p:cNvPr id="81" name="Text 79"/>
          <p:cNvSpPr/>
          <p:nvPr/>
        </p:nvSpPr>
        <p:spPr>
          <a:xfrm>
            <a:off x="8887968" y="3749040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887968" y="2798064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308592" y="1883664"/>
            <a:ext cx="512064" cy="512064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9308592" y="969264"/>
            <a:ext cx="530352" cy="530352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9729216" y="12984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60" dirty="0"/>
          </a:p>
        </p:txBody>
      </p:sp>
      <p:sp>
        <p:nvSpPr>
          <p:cNvPr id="86" name="Shape 84"/>
          <p:cNvSpPr/>
          <p:nvPr/>
        </p:nvSpPr>
        <p:spPr>
          <a:xfrm>
            <a:off x="9564624" y="4718304"/>
            <a:ext cx="0" cy="-384048"/>
          </a:xfrm>
          <a:prstGeom prst="line">
            <a:avLst/>
          </a:prstGeom>
          <a:noFill/>
          <a:ln w="1524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564624" y="3749040"/>
            <a:ext cx="0" cy="-365760"/>
          </a:xfrm>
          <a:prstGeom prst="line">
            <a:avLst/>
          </a:prstGeom>
          <a:noFill/>
          <a:ln w="15240">
            <a:solidFill>
              <a:srgbClr val="C0A183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564624" y="2798064"/>
            <a:ext cx="0" cy="-384048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9564624" y="1883664"/>
            <a:ext cx="0" cy="-365760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162288" y="4828032"/>
            <a:ext cx="-219456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42832" y="4828032"/>
            <a:ext cx="0" cy="-1719072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42832" y="3108960"/>
            <a:ext cx="25603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10954512" y="4718304"/>
            <a:ext cx="512064" cy="512064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11356848" y="50474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760" dirty="0"/>
          </a:p>
        </p:txBody>
      </p:sp>
      <p:sp>
        <p:nvSpPr>
          <p:cNvPr id="95" name="Text 93"/>
          <p:cNvSpPr/>
          <p:nvPr/>
        </p:nvSpPr>
        <p:spPr>
          <a:xfrm>
            <a:off x="10533888" y="3749040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0533888" y="2798064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10954512" y="1883664"/>
            <a:ext cx="512064" cy="512064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10954512" y="969264"/>
            <a:ext cx="530352" cy="530352"/>
          </a:xfrm>
          <a:prstGeom prst="ellipse">
            <a:avLst/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11375136" y="12984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760" dirty="0"/>
          </a:p>
        </p:txBody>
      </p:sp>
      <p:sp>
        <p:nvSpPr>
          <p:cNvPr id="100" name="Shape 98"/>
          <p:cNvSpPr/>
          <p:nvPr/>
        </p:nvSpPr>
        <p:spPr>
          <a:xfrm>
            <a:off x="11210544" y="4718304"/>
            <a:ext cx="0" cy="-384048"/>
          </a:xfrm>
          <a:prstGeom prst="line">
            <a:avLst/>
          </a:prstGeom>
          <a:noFill/>
          <a:ln w="1524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1210544" y="3749040"/>
            <a:ext cx="0" cy="-365760"/>
          </a:xfrm>
          <a:prstGeom prst="line">
            <a:avLst/>
          </a:prstGeom>
          <a:noFill/>
          <a:ln w="15240">
            <a:solidFill>
              <a:srgbClr val="C0A183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11210544" y="2798064"/>
            <a:ext cx="0" cy="-384048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1210544" y="1883664"/>
            <a:ext cx="0" cy="-365760"/>
          </a:xfrm>
          <a:prstGeom prst="line">
            <a:avLst/>
          </a:prstGeom>
          <a:noFill/>
          <a:ln w="15240">
            <a:solidFill>
              <a:srgbClr val="7FA9D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10808208" y="4828032"/>
            <a:ext cx="-219456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588752" y="4828032"/>
            <a:ext cx="0" cy="-1719072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588752" y="3108960"/>
            <a:ext cx="25603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8522208" y="3081528"/>
            <a:ext cx="365760" cy="0"/>
          </a:xfrm>
          <a:prstGeom prst="line">
            <a:avLst/>
          </a:prstGeom>
          <a:noFill/>
          <a:ln w="20320">
            <a:solidFill>
              <a:srgbClr val="CFB055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8887968" y="4032504"/>
            <a:ext cx="-365760" cy="0"/>
          </a:xfrm>
          <a:prstGeom prst="line">
            <a:avLst/>
          </a:prstGeom>
          <a:noFill/>
          <a:ln w="2032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10168128" y="3081528"/>
            <a:ext cx="365760" cy="0"/>
          </a:xfrm>
          <a:prstGeom prst="line">
            <a:avLst/>
          </a:prstGeom>
          <a:noFill/>
          <a:ln w="20320">
            <a:solidFill>
              <a:srgbClr val="CFB055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10533888" y="4032504"/>
            <a:ext cx="-365760" cy="0"/>
          </a:xfrm>
          <a:prstGeom prst="line">
            <a:avLst/>
          </a:prstGeom>
          <a:noFill/>
          <a:ln w="20320">
            <a:solidFill>
              <a:srgbClr val="8FBF7F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6400800" y="541324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directions read the same sequence; their hidden states feed the output activation</a:t>
            </a:r>
            <a:endParaRPr lang="en-US" sz="840" dirty="0"/>
          </a:p>
        </p:txBody>
      </p:sp>
      <p:sp>
        <p:nvSpPr>
          <p:cNvPr id="112" name="Text 110"/>
          <p:cNvSpPr/>
          <p:nvPr/>
        </p:nvSpPr>
        <p:spPr>
          <a:xfrm>
            <a:off x="91440" y="5797296"/>
            <a:ext cx="1197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PSO hyper-parameter optimization</a:t>
            </a:r>
            <a:endParaRPr lang="en-US" sz="1350" dirty="0"/>
          </a:p>
        </p:txBody>
      </p:sp>
      <p:sp>
        <p:nvSpPr>
          <p:cNvPr id="113" name="Text 111"/>
          <p:cNvSpPr/>
          <p:nvPr/>
        </p:nvSpPr>
        <p:spPr>
          <a:xfrm>
            <a:off x="502920" y="640080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D6E4F0"/>
          </a:solidFill>
          <a:ln w="15240">
            <a:solidFill>
              <a:srgbClr val="7FA9D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swarm</a:t>
            </a:r>
            <a:endParaRPr lang="en-US" sz="930" dirty="0"/>
          </a:p>
        </p:txBody>
      </p:sp>
      <p:sp>
        <p:nvSpPr>
          <p:cNvPr id="114" name="Shape 112"/>
          <p:cNvSpPr/>
          <p:nvPr/>
        </p:nvSpPr>
        <p:spPr>
          <a:xfrm>
            <a:off x="2313432" y="6720840"/>
            <a:ext cx="237744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15" name="Text 113"/>
          <p:cNvSpPr/>
          <p:nvPr/>
        </p:nvSpPr>
        <p:spPr>
          <a:xfrm>
            <a:off x="2551176" y="640080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DDEBD3"/>
          </a:solidFill>
          <a:ln w="15240">
            <a:solidFill>
              <a:srgbClr val="8FBF7F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fitness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(validation AUC)</a:t>
            </a:r>
            <a:endParaRPr lang="en-US" sz="930" dirty="0"/>
          </a:p>
        </p:txBody>
      </p:sp>
      <p:sp>
        <p:nvSpPr>
          <p:cNvPr id="116" name="Shape 114"/>
          <p:cNvSpPr/>
          <p:nvPr/>
        </p:nvSpPr>
        <p:spPr>
          <a:xfrm>
            <a:off x="4361688" y="6720840"/>
            <a:ext cx="237744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4599432" y="640080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FBF0CC"/>
          </a:solidFill>
          <a:ln w="15240">
            <a:solidFill>
              <a:srgbClr val="CFB05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pbest / gbest</a:t>
            </a:r>
            <a:endParaRPr lang="en-US" sz="930" dirty="0"/>
          </a:p>
        </p:txBody>
      </p:sp>
      <p:sp>
        <p:nvSpPr>
          <p:cNvPr id="118" name="Shape 116"/>
          <p:cNvSpPr/>
          <p:nvPr/>
        </p:nvSpPr>
        <p:spPr>
          <a:xfrm>
            <a:off x="6409944" y="6720840"/>
            <a:ext cx="237744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19" name="Text 117"/>
          <p:cNvSpPr/>
          <p:nvPr/>
        </p:nvSpPr>
        <p:spPr>
          <a:xfrm>
            <a:off x="6647688" y="640080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FE2D2"/>
          </a:solidFill>
          <a:ln w="15240">
            <a:solidFill>
              <a:srgbClr val="C0A18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velocity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position</a:t>
            </a:r>
            <a:endParaRPr lang="en-US" sz="930" dirty="0"/>
          </a:p>
        </p:txBody>
      </p:sp>
      <p:sp>
        <p:nvSpPr>
          <p:cNvPr id="120" name="Shape 118"/>
          <p:cNvSpPr/>
          <p:nvPr/>
        </p:nvSpPr>
        <p:spPr>
          <a:xfrm>
            <a:off x="8458200" y="6720840"/>
            <a:ext cx="237744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8695944" y="6272784"/>
            <a:ext cx="1874520" cy="896112"/>
          </a:xfrm>
          <a:prstGeom prst="diamond">
            <a:avLst/>
          </a:prstGeom>
          <a:solidFill>
            <a:srgbClr val="F1F1F1"/>
          </a:solidFill>
          <a:ln w="15240">
            <a:solidFill>
              <a:srgbClr val="ADAD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iterations?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0570464" y="6720840"/>
            <a:ext cx="274320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10890504" y="6428232"/>
            <a:ext cx="1353312" cy="585216"/>
          </a:xfrm>
          <a:prstGeom prst="roundRect">
            <a:avLst>
              <a:gd name="adj" fmla="val 7813"/>
            </a:avLst>
          </a:prstGeom>
          <a:solidFill>
            <a:srgbClr val="DDEBD3"/>
          </a:solidFill>
          <a:ln w="15240">
            <a:solidFill>
              <a:srgbClr val="8FBF7F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DL model</a:t>
            </a:r>
            <a:endParaRPr lang="en-US" sz="930" dirty="0"/>
          </a:p>
        </p:txBody>
      </p:sp>
      <p:sp>
        <p:nvSpPr>
          <p:cNvPr id="124" name="Text 122"/>
          <p:cNvSpPr/>
          <p:nvPr/>
        </p:nvSpPr>
        <p:spPr>
          <a:xfrm>
            <a:off x="10506456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40" dirty="0"/>
          </a:p>
        </p:txBody>
      </p:sp>
      <p:sp>
        <p:nvSpPr>
          <p:cNvPr id="125" name="Shape 123"/>
          <p:cNvSpPr/>
          <p:nvPr/>
        </p:nvSpPr>
        <p:spPr>
          <a:xfrm>
            <a:off x="9628632" y="7168896"/>
            <a:ext cx="0" cy="402336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628632" y="7571232"/>
            <a:ext cx="-8220456" cy="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408176" y="7571232"/>
            <a:ext cx="0" cy="-530352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8" name="Text 126"/>
          <p:cNvSpPr/>
          <p:nvPr/>
        </p:nvSpPr>
        <p:spPr>
          <a:xfrm>
            <a:off x="9153144" y="71871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2026-07-28T00:01:07Z</dcterms:created>
  <dcterms:modified xsi:type="dcterms:W3CDTF">2026-07-28T00:01:07Z</dcterms:modified>
</cp:coreProperties>
</file>