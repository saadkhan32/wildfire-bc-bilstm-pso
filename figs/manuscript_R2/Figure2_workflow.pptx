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412480" cy="11338560"/>
  <p:notesSz cx="11338560" cy="8412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74920" cy="1133856"/>
          </a:xfrm>
          <a:prstGeom prst="roundRect">
            <a:avLst>
              <a:gd name="adj" fmla="val 4032"/>
            </a:avLst>
          </a:prstGeom>
          <a:solidFill>
            <a:srgbClr val="D6E4F0"/>
          </a:solidFill>
          <a:ln w="19050">
            <a:solidFill>
              <a:srgbClr val="7FA9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75488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 Acquisition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9224" y="841248"/>
            <a:ext cx="4782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Wildfire points 2000–2024 (CWFIS)  ·  Climate (TerraClimate,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ERA5-Land)  ·  Topography (SRTM)  ·  NDVI (Landsat-8)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use / land cover (ESRI)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74920" cy="969264"/>
          </a:xfrm>
          <a:prstGeom prst="roundRect">
            <a:avLst>
              <a:gd name="adj" fmla="val 4717"/>
            </a:avLst>
          </a:prstGeom>
          <a:solidFill>
            <a:srgbClr val="D9EAD3"/>
          </a:solidFill>
          <a:ln w="19050">
            <a:solidFill>
              <a:srgbClr val="8FBF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20240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 Preparation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9224" y="2286000"/>
            <a:ext cx="4782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layers resampled to 1.5 km  ·  raster → point (ArcGIS Pro)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1,992 wildfire and 1,992 non-wildfire points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5074920" cy="1133856"/>
          </a:xfrm>
          <a:prstGeom prst="roundRect">
            <a:avLst>
              <a:gd name="adj" fmla="val 4032"/>
            </a:avLst>
          </a:prstGeom>
          <a:solidFill>
            <a:srgbClr val="FCE5CD"/>
          </a:solidFill>
          <a:ln w="19050">
            <a:solidFill>
              <a:srgbClr val="E0B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200400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Preprocessing and Feature Engineering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" y="3566160"/>
            <a:ext cx="4782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Impute, scale and one-hot encode on training data only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RF-RFE feature selection; the same feature list is applied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every split to prevent leakage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553712"/>
            <a:ext cx="5074920" cy="969264"/>
          </a:xfrm>
          <a:prstGeom prst="roundRect">
            <a:avLst>
              <a:gd name="adj" fmla="val 4717"/>
            </a:avLst>
          </a:prstGeom>
          <a:solidFill>
            <a:srgbClr val="ECECEC"/>
          </a:solidFill>
          <a:ln w="19050">
            <a:solidFill>
              <a:srgbClr val="B0B0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4645152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Dataset Split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" y="5010912"/>
            <a:ext cx="4782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70%  /  Testing 30%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10-fold spatial cross-validation (~50 km blocks)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833872"/>
            <a:ext cx="5074920" cy="1005840"/>
          </a:xfrm>
          <a:prstGeom prst="roundRect">
            <a:avLst>
              <a:gd name="adj" fmla="val 4545"/>
            </a:avLst>
          </a:prstGeom>
          <a:solidFill>
            <a:srgbClr val="E7DFF2"/>
          </a:solidFill>
          <a:ln w="19050">
            <a:solidFill>
              <a:srgbClr val="B09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5925312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Deep-Learning Models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" y="6291072"/>
            <a:ext cx="4782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 ·  Bidirectional LSTM (BiLSTM)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Hyper-parameter optimization by PSO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63040" y="7187184"/>
            <a:ext cx="3154680" cy="91440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E0C0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acceptable?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8485632"/>
            <a:ext cx="5074920" cy="1152144"/>
          </a:xfrm>
          <a:prstGeom prst="roundRect">
            <a:avLst>
              <a:gd name="adj" fmla="val 3968"/>
            </a:avLst>
          </a:prstGeom>
          <a:solidFill>
            <a:srgbClr val="D0E8E4"/>
          </a:solidFill>
          <a:ln w="19050">
            <a:solidFill>
              <a:srgbClr val="77BD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8577072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Validation and Explanation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" y="8942832"/>
            <a:ext cx="4782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sensitivity, specificity, precision, F1, ROC-AUC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BiLSTM-PSO test AUC = 0.92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SHAP explanation of influential predictors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9948672"/>
            <a:ext cx="5074920" cy="987552"/>
          </a:xfrm>
          <a:prstGeom prst="roundRect">
            <a:avLst>
              <a:gd name="adj" fmla="val 4630"/>
            </a:avLst>
          </a:prstGeom>
          <a:solidFill>
            <a:srgbClr val="FADBD8"/>
          </a:solidFill>
          <a:ln w="19050">
            <a:solidFill>
              <a:srgbClr val="E0A1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10040112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Susceptibility and Exposure Outputs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" y="10405872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Five-class susceptibility maps  ·  district exposure of households,</a:t>
            </a:r>
            <a:endParaRPr lang="en-US" sz="1050" dirty="0"/>
          </a:p>
          <a:p>
            <a:pPr algn="ct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and vegetation  ·  cross-border consistency check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40380" y="1517904"/>
            <a:ext cx="0" cy="310896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40380" y="2798064"/>
            <a:ext cx="0" cy="310896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040380" y="4242816"/>
            <a:ext cx="0" cy="310896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40380" y="5522976"/>
            <a:ext cx="0" cy="310896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40380" y="6839712"/>
            <a:ext cx="0" cy="347472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40380" y="8101584"/>
            <a:ext cx="0" cy="384048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040380" y="9637776"/>
            <a:ext cx="0" cy="310896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095244" y="82296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463040" y="7644384"/>
            <a:ext cx="-566928" cy="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" y="7644384"/>
            <a:ext cx="0" cy="-1307592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6112" y="6336792"/>
            <a:ext cx="109728" cy="0"/>
          </a:xfrm>
          <a:prstGeom prst="line">
            <a:avLst/>
          </a:prstGeom>
          <a:noFill/>
          <a:ln w="2540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01752" y="73334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70448" y="1828800"/>
            <a:ext cx="2057400" cy="3017520"/>
          </a:xfrm>
          <a:prstGeom prst="roundRect">
            <a:avLst>
              <a:gd name="adj" fmla="val 2222"/>
            </a:avLst>
          </a:prstGeom>
          <a:solidFill>
            <a:srgbClr val="E1EAF2"/>
          </a:solidFill>
          <a:ln w="19050">
            <a:solidFill>
              <a:srgbClr val="9AB2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0176" y="192024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Spatiotemporal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and Trends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16752" y="2523744"/>
            <a:ext cx="176479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Annual, monthly and</a:t>
            </a: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fire-density</a:t>
            </a: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(2000–2024)</a:t>
            </a: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Theil–Sen slopes with</a:t>
            </a: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confidence intervals</a:t>
            </a: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Mann–Kendall τ</a:t>
            </a: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District-wise and</a:t>
            </a: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climatic-variability</a:t>
            </a:r>
            <a:endParaRPr lang="en-US" sz="980" dirty="0"/>
          </a:p>
          <a:p>
            <a:pPr algn="ctr"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577840" y="1005840"/>
            <a:ext cx="274320" cy="1417320"/>
          </a:xfrm>
          <a:prstGeom prst="line">
            <a:avLst/>
          </a:prstGeom>
          <a:noFill/>
          <a:ln w="22860">
            <a:solidFill>
              <a:srgbClr val="9AB2C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899148" y="4846320"/>
            <a:ext cx="0" cy="3246120"/>
          </a:xfrm>
          <a:prstGeom prst="line">
            <a:avLst/>
          </a:prstGeom>
          <a:noFill/>
          <a:ln w="22860">
            <a:solidFill>
              <a:srgbClr val="9AB2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99148" y="8092440"/>
            <a:ext cx="-1303020" cy="914400"/>
          </a:xfrm>
          <a:prstGeom prst="line">
            <a:avLst/>
          </a:prstGeom>
          <a:noFill/>
          <a:ln w="22860">
            <a:solidFill>
              <a:srgbClr val="9AB2C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2026-07-27T22:34:32Z</dcterms:created>
  <dcterms:modified xsi:type="dcterms:W3CDTF">2026-07-27T22:34:32Z</dcterms:modified>
</cp:coreProperties>
</file>